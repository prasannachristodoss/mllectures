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312" r:id="rId3"/>
    <p:sldId id="404" r:id="rId4"/>
    <p:sldId id="405" r:id="rId5"/>
    <p:sldId id="435" r:id="rId6"/>
    <p:sldId id="436" r:id="rId7"/>
    <p:sldId id="406" r:id="rId8"/>
    <p:sldId id="434" r:id="rId9"/>
    <p:sldId id="437" r:id="rId10"/>
    <p:sldId id="442" r:id="rId11"/>
    <p:sldId id="443" r:id="rId12"/>
    <p:sldId id="422" r:id="rId13"/>
    <p:sldId id="438" r:id="rId14"/>
    <p:sldId id="423" r:id="rId15"/>
    <p:sldId id="424" r:id="rId16"/>
    <p:sldId id="425" r:id="rId17"/>
    <p:sldId id="447" r:id="rId18"/>
    <p:sldId id="446" r:id="rId19"/>
    <p:sldId id="448" r:id="rId20"/>
    <p:sldId id="439" r:id="rId21"/>
    <p:sldId id="444" r:id="rId22"/>
    <p:sldId id="445" r:id="rId23"/>
    <p:sldId id="449" r:id="rId24"/>
    <p:sldId id="450" r:id="rId25"/>
    <p:sldId id="41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231300-43D0-812F-0441-E6B69AF14285}" v="303" dt="2026-01-19T20:37:29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63" autoAdjust="0"/>
    <p:restoredTop sz="85885" autoAdjust="0"/>
  </p:normalViewPr>
  <p:slideViewPr>
    <p:cSldViewPr snapToGrid="0">
      <p:cViewPr varScale="1">
        <p:scale>
          <a:sx n="92" d="100"/>
          <a:sy n="92" d="100"/>
        </p:scale>
        <p:origin x="448" y="17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612B4-B58D-4F68-BA18-5ADBB15DF71C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F877A-665C-44A3-BBC4-DB462A842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423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CBFED93-1C6E-4F23-B989-5B249F530E42}" type="slidenum">
              <a:rPr lang="en-US"/>
              <a:pPr eaLnBrk="1" hangingPunct="1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000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809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897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013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965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60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22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29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027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B14F-8835-8C57-F7F6-B34BB4CE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9FACE240-D934-4FD7-8EE4-5AA260FA22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7E873ECB-1803-CA93-193F-B1A3F8622B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6BFA8434-5541-F9BA-6FFB-6FF227F60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514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CD0A0-8A53-8694-4358-5EE4826A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BE421129-3AD2-35BC-C933-2B9C65FB1F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C441FF92-97FB-2CAF-FEBF-D6F67D1603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6B903054-7B97-95DD-EFD5-0C1FA1AA1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06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1695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58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737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1986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Easy example: Coin flip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Event: getting </a:t>
            </a:r>
            <a:r>
              <a:rPr lang="en-US" b="1" dirty="0"/>
              <a:t>Heads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Probability: </a:t>
            </a:r>
            <a:r>
              <a:rPr lang="en-US" b="1" dirty="0"/>
              <a:t>0.5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Event: getting </a:t>
            </a:r>
            <a:r>
              <a:rPr lang="en-US" b="1" dirty="0"/>
              <a:t>Tails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Probability: </a:t>
            </a:r>
            <a:r>
              <a:rPr lang="en-US" b="1" dirty="0"/>
              <a:t>0.5</a:t>
            </a:r>
            <a:endParaRPr lang="en-US" dirty="0"/>
          </a:p>
          <a:p>
            <a:r>
              <a:rPr lang="en-US" dirty="0"/>
              <a:t>We’ve mapped: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   Heads → 0.5</a:t>
            </a:r>
            <a:endParaRPr lang="en-US" dirty="0">
              <a:ea typeface="Calibri"/>
              <a:cs typeface="Calibri"/>
            </a:endParaRPr>
          </a:p>
          <a:p>
            <a:pPr>
              <a:spcBef>
                <a:spcPct val="0"/>
              </a:spcBef>
            </a:pPr>
            <a:r>
              <a:rPr lang="en-US" dirty="0"/>
              <a:t>   Tails → 0.5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263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99FAA-B501-948D-AF07-5460A5018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6040AA60-C640-B5EA-0B6A-9074F546A4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48637404-62F9-A647-BA2A-8E7AED711D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Easy example: Coin flip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Event: getting </a:t>
            </a:r>
            <a:r>
              <a:rPr lang="en-US" b="1" dirty="0"/>
              <a:t>Heads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Probability: </a:t>
            </a:r>
            <a:r>
              <a:rPr lang="en-US" b="1" dirty="0"/>
              <a:t>0.5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Event: getting </a:t>
            </a:r>
            <a:r>
              <a:rPr lang="en-US" b="1" dirty="0"/>
              <a:t>Tails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Probability: </a:t>
            </a:r>
            <a:r>
              <a:rPr lang="en-US" b="1" dirty="0"/>
              <a:t>0.5</a:t>
            </a:r>
            <a:endParaRPr lang="en-US" dirty="0"/>
          </a:p>
          <a:p>
            <a:r>
              <a:rPr lang="en-US" dirty="0"/>
              <a:t>We’ve mapped: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   Heads → 0.5</a:t>
            </a:r>
            <a:endParaRPr lang="en-US" dirty="0">
              <a:ea typeface="Calibri"/>
              <a:cs typeface="Calibri"/>
            </a:endParaRPr>
          </a:p>
          <a:p>
            <a:pPr>
              <a:spcBef>
                <a:spcPct val="0"/>
              </a:spcBef>
            </a:pPr>
            <a:r>
              <a:rPr lang="en-US" dirty="0"/>
              <a:t>   Tails → 0.5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44917EFC-FA25-5862-84C4-B7551EB79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78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846F8-18AE-2C21-0260-3EB0D4B9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C2213BB4-C89F-1ECD-3F2E-9CB785B87B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6748D310-7A36-8638-64A2-BFEB8AEAA7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Easy example: Coin flip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Event: getting </a:t>
            </a:r>
            <a:r>
              <a:rPr lang="en-US" b="1" dirty="0"/>
              <a:t>Heads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Probability: </a:t>
            </a:r>
            <a:r>
              <a:rPr lang="en-US" b="1" dirty="0"/>
              <a:t>0.5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Event: getting </a:t>
            </a:r>
            <a:r>
              <a:rPr lang="en-US" b="1" dirty="0"/>
              <a:t>Tails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Probability: </a:t>
            </a:r>
            <a:r>
              <a:rPr lang="en-US" b="1" dirty="0"/>
              <a:t>0.5</a:t>
            </a:r>
            <a:endParaRPr lang="en-US" dirty="0"/>
          </a:p>
          <a:p>
            <a:r>
              <a:rPr lang="en-US" dirty="0"/>
              <a:t>We’ve mapped: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   Heads → 0.5</a:t>
            </a:r>
            <a:endParaRPr lang="en-US" dirty="0">
              <a:ea typeface="Calibri"/>
              <a:cs typeface="Calibri"/>
            </a:endParaRPr>
          </a:p>
          <a:p>
            <a:pPr>
              <a:spcBef>
                <a:spcPct val="0"/>
              </a:spcBef>
            </a:pPr>
            <a:r>
              <a:rPr lang="en-US" dirty="0"/>
              <a:t>   Tails → 0.5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C2C190C7-E4AD-38D4-BCA5-439304DA9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3561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2BDC5-F7A9-78EB-DD96-031C5274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D47B5289-AD26-0E91-F8E5-0516C135AE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3913DBE3-578C-64B4-82E3-FDB85B000B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Easy example: Coin flip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Event: getting </a:t>
            </a:r>
            <a:r>
              <a:rPr lang="en-US" b="1" dirty="0"/>
              <a:t>Heads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Probability: </a:t>
            </a:r>
            <a:r>
              <a:rPr lang="en-US" b="1" dirty="0"/>
              <a:t>0.5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Event: getting </a:t>
            </a:r>
            <a:r>
              <a:rPr lang="en-US" b="1" dirty="0"/>
              <a:t>Tails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en-US" dirty="0"/>
              <a:t>Probability: </a:t>
            </a:r>
            <a:r>
              <a:rPr lang="en-US" b="1" dirty="0"/>
              <a:t>0.5</a:t>
            </a:r>
            <a:endParaRPr lang="en-US" dirty="0"/>
          </a:p>
          <a:p>
            <a:r>
              <a:rPr lang="en-US" dirty="0"/>
              <a:t>We’ve mapped: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   Heads → 0.5</a:t>
            </a:r>
            <a:endParaRPr lang="en-US" dirty="0">
              <a:ea typeface="Calibri"/>
              <a:cs typeface="Calibri"/>
            </a:endParaRPr>
          </a:p>
          <a:p>
            <a:pPr>
              <a:spcBef>
                <a:spcPct val="0"/>
              </a:spcBef>
            </a:pPr>
            <a:r>
              <a:rPr lang="en-US" dirty="0"/>
              <a:t>   Tails → 0.5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E1C60B2A-932F-5340-6A1C-2D7655C84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184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72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B5FA-6792-9BC5-7DD7-2CBFE143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38AA2F42-EC6E-1CCF-C7C1-7F05C4C7B1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FE4D036E-3B31-C87A-21DF-3930329345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err="1"/>
              <a:t>pmf</a:t>
            </a:r>
            <a:r>
              <a:rPr lang="en-US" dirty="0"/>
              <a:t> = </a:t>
            </a:r>
            <a:r>
              <a:rPr lang="en-US" b="1" dirty="0"/>
              <a:t>Probability Mass Function - </a:t>
            </a:r>
            <a:r>
              <a:rPr lang="en-US" dirty="0"/>
              <a:t>What is the probability of getting k heads out of flips coin tosses?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74D5517E-BEE7-1FC9-47EB-A90932C85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037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BB4F-09A8-19BD-C354-688953EC7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7FBF051F-0A5A-665A-0387-F365937077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3E2D7740-4C49-60F9-4B3C-70C8662AF6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6AF2B32A-D7AD-0035-9E2D-C6D12F149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871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06867-973E-7B5C-8CDC-D97F14B2D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FA5903FC-688D-754A-AD98-099B5655BA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DE1B7C3B-554A-926A-1B49-DB6329E6C0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err="1"/>
              <a:t>pmf</a:t>
            </a:r>
            <a:r>
              <a:rPr lang="en-US" dirty="0"/>
              <a:t> = </a:t>
            </a:r>
            <a:r>
              <a:rPr lang="en-US" b="1" dirty="0"/>
              <a:t>Probability Mass Function - </a:t>
            </a:r>
            <a:r>
              <a:rPr lang="en-US" dirty="0"/>
              <a:t>What is the probability of getting k heads out of flips coin tosses?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C35E3D0A-3195-E26D-8115-EAD254BD5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6055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A59C2-556D-C96E-9481-C3C06C87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0E0B3375-1092-93BB-EFF2-AFB6DC5EC5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2B7AE264-4459-8FF4-5BFE-956C24AD27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dirty="0" err="1"/>
              <a:t>pmf</a:t>
            </a:r>
            <a:r>
              <a:rPr lang="en-US" dirty="0"/>
              <a:t> = </a:t>
            </a:r>
            <a:r>
              <a:rPr lang="en-US" b="1" dirty="0"/>
              <a:t>Probability Mass Function - </a:t>
            </a:r>
            <a:r>
              <a:rPr lang="en-US" dirty="0"/>
              <a:t>What is the probability of getting k heads out of flips coin tosses?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3E4E167B-6B49-909A-F8B2-9B230DD43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05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E3A183-DEB7-4A59-A2CD-762740564979}" type="slidenum">
              <a:rPr lang="en-US"/>
              <a:pPr eaLnBrk="1" hangingPunct="1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93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A0E0-8C86-4FBB-BAE1-3E287D985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D8043-B945-4D8E-A365-E55CC59F6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80A7F-3B51-4626-AA1A-4273E6699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5BF1E-D145-4F91-B60F-4887BA24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AD39C-5B6A-43E0-B731-74744A5F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21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76BB-3AB5-4294-BC15-F5D39DA0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4DEF-D428-4EFD-AC5B-3B2E4D45E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E1C8D-3DC1-4910-B93C-5F3658C5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B1FC-A7D8-4787-AE1D-3C38FD527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4F8A2-3A83-4A7F-AFB4-2D5EDF55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blue and purple background with text&#10;&#10;AI-generated content may be incorrect.">
            <a:extLst>
              <a:ext uri="{FF2B5EF4-FFF2-40B4-BE49-F238E27FC236}">
                <a16:creationId xmlns:a16="http://schemas.microsoft.com/office/drawing/2014/main" id="{1C62AF18-3985-CBD5-9926-0D52C00010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45"/>
          <a:stretch>
            <a:fillRect/>
          </a:stretch>
        </p:blipFill>
        <p:spPr>
          <a:xfrm>
            <a:off x="0" y="9525"/>
            <a:ext cx="1945682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78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443F-80F9-4668-B08A-A2D01CDEC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CC94A-A0E6-4E26-AF67-48B143F05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0A139-5758-4D19-AFD2-AB56D24D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2BB62-7B8C-42EC-8ED5-77DF6C1D4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69E72-46E6-4103-ABB4-CD9A6226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96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FEAA-F223-463A-8484-73118352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B8D60-7D97-4543-BF96-B56490CD9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03946-550B-4221-940E-59F8237E3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23A10-D6B5-44BC-A94B-1B2913AD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91E4A-46B2-4159-BFC9-5BF5EA7AB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6A296-2B2B-4CFC-8AB0-8722C7E1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00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9314-9517-43D5-A63E-4532CA868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80824-41B5-4DB8-B842-ED27C3AAD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5AA56-BAC2-4214-B5EB-0EDFAB2CA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C7E988-46E7-43AA-80A8-BDC520DAA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3AA996-EF66-478E-8FEE-DFE5F13FA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4D4805-6A02-43A5-90D5-1EC4E977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7EF122-10C1-4468-BF8C-34BDF76A9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14A84-7BA7-4A54-A862-92841808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6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390A-ABE6-491B-BEF3-0DB8B5516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4F6B9-AEE7-4565-83BE-5A849A14B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CC5A6-C273-4D06-B96E-34FA1129A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B2EF0-9A02-44AB-93F2-91ECF423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04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92223B-FDD8-422C-BFA8-02E003D4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D4B1B-4AAD-4C99-84BF-585AA81E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7B670-CCAA-4A80-A12A-D99A6532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blue and purple background with text&#10;&#10;AI-generated content may be incorrect.">
            <a:extLst>
              <a:ext uri="{FF2B5EF4-FFF2-40B4-BE49-F238E27FC236}">
                <a16:creationId xmlns:a16="http://schemas.microsoft.com/office/drawing/2014/main" id="{26A0F9E5-4276-EECC-3D4F-9C36CB47AB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45"/>
          <a:stretch>
            <a:fillRect/>
          </a:stretch>
        </p:blipFill>
        <p:spPr>
          <a:xfrm>
            <a:off x="0" y="9525"/>
            <a:ext cx="1945682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6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0FA9-C7D6-491D-ACE9-D49F57A6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255B-C7A8-46AB-B2D3-879E8C0B7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0AF1A-7AE5-4486-BB73-FA055154B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B3336-F6E8-4A43-A4D1-4D8023ED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85D16-32DC-4DEB-BB10-C96B71C9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838CF-343F-4770-9C0C-316817CE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A blue and purple background with text&#10;&#10;AI-generated content may be incorrect.">
            <a:extLst>
              <a:ext uri="{FF2B5EF4-FFF2-40B4-BE49-F238E27FC236}">
                <a16:creationId xmlns:a16="http://schemas.microsoft.com/office/drawing/2014/main" id="{0DDC0455-6084-BED6-FA4C-2EE9DED6F9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45"/>
          <a:stretch>
            <a:fillRect/>
          </a:stretch>
        </p:blipFill>
        <p:spPr>
          <a:xfrm>
            <a:off x="0" y="9525"/>
            <a:ext cx="1945682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1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376A7-1046-4938-8F6A-4B6183FB3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60A23-9974-416C-AF0C-2828B0F59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9949E-5F24-46AB-B8C1-61B80C166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D82CB-609E-45E7-9A7A-CA64DFFC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60CC8-D11D-40D9-B604-265DFE08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F1C2-C7FD-421F-924C-FEAA615B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19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0294-8ADB-4CB9-9D2A-6A619CD9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3F83B-5153-4F89-B773-22D6B2A0D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EC36C-FC58-499E-AE89-62AED472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A5B4A-A3DF-4F3F-9F54-BD997C0C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20588-01E0-4FB0-843F-61106B14E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46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E9C9B2-318E-4D78-9BCB-03DB2EFC0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8C643-1EA7-461B-8741-BCC762BDD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1CE4D-6EA9-43B7-979D-E8DE83E80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B64A8-1C35-45BF-9DEE-341AFA9A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07A44-30E4-4D65-B87F-E27F797EA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22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303882-47DB-4A56-B739-B260ED04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6356B-024C-4D2A-B0BD-20FA74302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FC8F9-39CF-4103-A885-D55AA2D7A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0269F-4D71-49E1-960F-D3F5700F508F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3F45-BBBA-45CA-BBC5-73AA34E513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C20AD-A0C0-45E4-A23A-2470B64F9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26036-F4A1-45F6-821B-83F889F3FF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964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>
            <a:extLst>
              <a:ext uri="{FF2B5EF4-FFF2-40B4-BE49-F238E27FC236}">
                <a16:creationId xmlns:a16="http://schemas.microsoft.com/office/drawing/2014/main" id="{252D96E1-3A52-7882-D0EC-BD50DB675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0758" y="2528891"/>
            <a:ext cx="7311242" cy="1248937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Need for Mathematical Language</a:t>
            </a:r>
            <a:endParaRPr lang="en-GB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974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Some Technical Background</a:t>
            </a:r>
            <a:endParaRPr lang="en-GB" sz="4000" b="1" dirty="0"/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2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The Need for Mathematical Language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Our Software for Tackling Machine Learning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Probability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Linear Combinations, Weighted Sums, and Dot Products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A Geometric View: Points in Space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Notation and the Plus-One Trick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Getting Groovy, Breaking the Straight-Jacket, and Nonlinearity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NumPy versus “All the Maths”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600" dirty="0"/>
              <a:t> Floating-Point Issues</a:t>
            </a:r>
          </a:p>
        </p:txBody>
      </p:sp>
    </p:spTree>
    <p:extLst>
      <p:ext uri="{BB962C8B-B14F-4D97-AF65-F5344CB8AC3E}">
        <p14:creationId xmlns:p14="http://schemas.microsoft.com/office/powerpoint/2010/main" val="3628073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The Need for Mathematical Language</a:t>
            </a:r>
            <a:endParaRPr lang="en-GB" sz="4000" b="1" dirty="0"/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3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It is very difficult to talk about machine learning without discussing some mathematics.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The following concepts from the mathematical world are used in machine learning:</a:t>
            </a:r>
            <a:endParaRPr lang="en-GB" sz="2600" dirty="0"/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dirty="0"/>
              <a:t>Algebra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dirty="0"/>
              <a:t>Probability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dirty="0"/>
              <a:t>Geometry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2203809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Our Software for Tackling Machine Learning</a:t>
            </a:r>
            <a:endParaRPr lang="en-GB" sz="4000" b="1" dirty="0"/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4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425029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The Python standard library includes </a:t>
            </a:r>
            <a:r>
              <a:rPr lang="en-US" sz="2600" b="1" dirty="0">
                <a:solidFill>
                  <a:srgbClr val="C00000"/>
                </a:solidFill>
              </a:rPr>
              <a:t>itertools</a:t>
            </a:r>
            <a:r>
              <a:rPr lang="en-US" sz="2600" dirty="0"/>
              <a:t>, </a:t>
            </a:r>
            <a:r>
              <a:rPr lang="en-US" sz="2600" b="1" dirty="0">
                <a:solidFill>
                  <a:srgbClr val="C00000"/>
                </a:solidFill>
              </a:rPr>
              <a:t>collections</a:t>
            </a:r>
            <a:r>
              <a:rPr lang="en-US" sz="2600" dirty="0"/>
              <a:t>, and </a:t>
            </a:r>
            <a:r>
              <a:rPr lang="en-US" sz="2600" b="1" dirty="0">
                <a:solidFill>
                  <a:srgbClr val="C00000"/>
                </a:solidFill>
              </a:rPr>
              <a:t>functools</a:t>
            </a:r>
            <a:r>
              <a:rPr lang="en-US" sz="2600" dirty="0"/>
              <a:t>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Members of the Python number-crunching and data science stack are </a:t>
            </a:r>
            <a:r>
              <a:rPr lang="en-US" sz="2600" b="1" dirty="0">
                <a:solidFill>
                  <a:srgbClr val="C00000"/>
                </a:solidFill>
              </a:rPr>
              <a:t>numpy</a:t>
            </a:r>
            <a:r>
              <a:rPr lang="en-US" sz="2600" dirty="0"/>
              <a:t>, </a:t>
            </a:r>
            <a:r>
              <a:rPr lang="en-US" sz="2600" b="1" dirty="0">
                <a:solidFill>
                  <a:srgbClr val="C00000"/>
                </a:solidFill>
              </a:rPr>
              <a:t>pandas</a:t>
            </a:r>
            <a:r>
              <a:rPr lang="en-US" sz="2600" dirty="0"/>
              <a:t>, </a:t>
            </a:r>
            <a:r>
              <a:rPr lang="en-US" sz="2600" b="1" dirty="0">
                <a:solidFill>
                  <a:srgbClr val="C00000"/>
                </a:solidFill>
              </a:rPr>
              <a:t>matplotlib</a:t>
            </a:r>
            <a:r>
              <a:rPr lang="en-US" sz="2600" dirty="0"/>
              <a:t>, </a:t>
            </a:r>
            <a:r>
              <a:rPr lang="en-US" sz="2600" b="1" dirty="0">
                <a:solidFill>
                  <a:srgbClr val="C00000"/>
                </a:solidFill>
              </a:rPr>
              <a:t>pytorch</a:t>
            </a:r>
            <a:r>
              <a:rPr lang="en-US" sz="2600" dirty="0"/>
              <a:t>, and </a:t>
            </a:r>
            <a:r>
              <a:rPr lang="en-US" sz="2600" b="1" dirty="0">
                <a:solidFill>
                  <a:srgbClr val="C00000"/>
                </a:solidFill>
              </a:rPr>
              <a:t>seaborn</a:t>
            </a:r>
            <a:r>
              <a:rPr lang="en-US" sz="2600" dirty="0"/>
              <a:t>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 </a:t>
            </a:r>
            <a:r>
              <a:rPr lang="en-US" sz="2600" b="1" dirty="0">
                <a:solidFill>
                  <a:srgbClr val="C00000"/>
                </a:solidFill>
              </a:rPr>
              <a:t>numpy</a:t>
            </a:r>
            <a:r>
              <a:rPr lang="en-US" sz="2600" dirty="0"/>
              <a:t> is a Python package that stands for ‘Numerical Python’.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It is the core library for scientific computing, which contains a powerful n-dimensional array object.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b="1" dirty="0">
                <a:solidFill>
                  <a:srgbClr val="C00000"/>
                </a:solidFill>
              </a:rPr>
              <a:t>pandas</a:t>
            </a:r>
            <a:r>
              <a:rPr lang="en-US" sz="2600" dirty="0"/>
              <a:t> is a Python package providing fast, flexible, and expressive data structures.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It is designed to make working with relational or labeled data both easy and intuitive.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2729555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Our Software for Tackling Machine Learning </a:t>
            </a:r>
            <a:r>
              <a:rPr lang="en-US" sz="3000" b="1" dirty="0"/>
              <a:t>(continued)</a:t>
            </a:r>
            <a:endParaRPr lang="en-GB" sz="3000" b="1" dirty="0"/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5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91163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It has two primary data structures, namely, </a:t>
            </a:r>
            <a:r>
              <a:rPr lang="en-US" sz="2600" b="1" dirty="0">
                <a:solidFill>
                  <a:srgbClr val="C00000"/>
                </a:solidFill>
              </a:rPr>
              <a:t>Series</a:t>
            </a:r>
            <a:r>
              <a:rPr lang="en-US" sz="2600" dirty="0"/>
              <a:t> and </a:t>
            </a:r>
            <a:r>
              <a:rPr lang="en-US" sz="2600" b="1" dirty="0">
                <a:solidFill>
                  <a:srgbClr val="C00000"/>
                </a:solidFill>
              </a:rPr>
              <a:t>DataFrame</a:t>
            </a:r>
            <a:r>
              <a:rPr lang="en-US" sz="2600" dirty="0"/>
              <a:t>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b="1" dirty="0">
                <a:solidFill>
                  <a:srgbClr val="C00000"/>
                </a:solidFill>
              </a:rPr>
              <a:t>Series</a:t>
            </a:r>
            <a:r>
              <a:rPr lang="en-US" sz="2600" dirty="0"/>
              <a:t> is one-dimensional, while </a:t>
            </a:r>
            <a:r>
              <a:rPr lang="en-US" sz="2600" b="1" dirty="0">
                <a:solidFill>
                  <a:srgbClr val="C00000"/>
                </a:solidFill>
              </a:rPr>
              <a:t>DataFrame</a:t>
            </a:r>
            <a:r>
              <a:rPr lang="en-US" sz="2600" dirty="0"/>
              <a:t> is two-dimensional.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b="1" dirty="0">
                <a:solidFill>
                  <a:srgbClr val="C00000"/>
                </a:solidFill>
              </a:rPr>
              <a:t>pytorch</a:t>
            </a:r>
            <a:r>
              <a:rPr lang="en-US" sz="2600" dirty="0"/>
              <a:t> is built based on python and torch library which supports computations of tensors on Graphical Processing Units.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The reason to use the number-crunching tools is because they form the foundation of, or work well with, </a:t>
            </a:r>
            <a:r>
              <a:rPr lang="en-US" sz="2600" b="1" dirty="0">
                <a:solidFill>
                  <a:srgbClr val="C00000"/>
                </a:solidFill>
              </a:rPr>
              <a:t>scikit-learn</a:t>
            </a:r>
            <a:r>
              <a:rPr lang="en-US" sz="2600" dirty="0"/>
              <a:t>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b="1" dirty="0">
                <a:solidFill>
                  <a:srgbClr val="C00000"/>
                </a:solidFill>
              </a:rPr>
              <a:t>sklearn</a:t>
            </a:r>
            <a:r>
              <a:rPr lang="en-US" sz="2600" dirty="0"/>
              <a:t> is a great environment for playing with the ideas of machine learning.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It implements many different learning algorithms and evaluation strategies and gives a uniform interface to run them.</a:t>
            </a:r>
            <a:r>
              <a:rPr lang="en-IN" sz="1600" b="1" i="0" dirty="0">
                <a:solidFill>
                  <a:srgbClr val="C7254E"/>
                </a:solidFill>
                <a:effectLst/>
                <a:latin typeface="SFMono-Regular"/>
              </a:rPr>
              <a:t> 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4785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Our Software for Tackling Machine Learning </a:t>
            </a:r>
            <a:r>
              <a:rPr lang="en-US" sz="3000" b="1" dirty="0"/>
              <a:t>(continued)</a:t>
            </a:r>
            <a:endParaRPr lang="en-GB" sz="3000" b="1" dirty="0"/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6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91163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The </a:t>
            </a:r>
            <a:r>
              <a:rPr lang="en-US" sz="2600" b="1" dirty="0">
                <a:solidFill>
                  <a:srgbClr val="C00000"/>
                </a:solidFill>
              </a:rPr>
              <a:t>tabula-py</a:t>
            </a:r>
            <a:r>
              <a:rPr lang="en-US" sz="2600" dirty="0"/>
              <a:t> library can read a table from PDF.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It also enables you to convert a PDF file into a CSV/TSV/JSON file.</a:t>
            </a:r>
          </a:p>
        </p:txBody>
      </p:sp>
    </p:spTree>
    <p:extLst>
      <p:ext uri="{BB962C8B-B14F-4D97-AF65-F5344CB8AC3E}">
        <p14:creationId xmlns:p14="http://schemas.microsoft.com/office/powerpoint/2010/main" val="3264791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 Probability</a:t>
            </a:r>
            <a:endParaRPr lang="en-GB" sz="4000" b="1" dirty="0"/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7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 2.4.1 Primitive Events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600" b="0" i="0" dirty="0">
                <a:effectLst/>
              </a:rPr>
              <a:t> 2.4.2 Independence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 2.4.3 Conditional Probability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600" b="0" i="0" dirty="0">
                <a:effectLst/>
              </a:rPr>
              <a:t>2.4.4 Distributions</a:t>
            </a:r>
          </a:p>
        </p:txBody>
      </p:sp>
    </p:spTree>
    <p:extLst>
      <p:ext uri="{BB962C8B-B14F-4D97-AF65-F5344CB8AC3E}">
        <p14:creationId xmlns:p14="http://schemas.microsoft.com/office/powerpoint/2010/main" val="104649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 Probability </a:t>
            </a:r>
            <a:r>
              <a:rPr lang="en-US" sz="3000" b="1" dirty="0"/>
              <a:t>(continued)</a:t>
            </a:r>
            <a:endParaRPr lang="en-GB" sz="3000" b="1" dirty="0"/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8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Probability theory is the mathematical framework that allows us to analyze chance events in a logically sound manner.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NumPy can be used to generate evenly weighted random events with </a:t>
            </a:r>
            <a:r>
              <a:rPr lang="en-US" sz="2600" b="1" dirty="0">
                <a:solidFill>
                  <a:srgbClr val="C00000"/>
                </a:solidFill>
              </a:rPr>
              <a:t>np.random.randint</a:t>
            </a:r>
            <a:r>
              <a:rPr lang="en-US" sz="2600" dirty="0"/>
              <a:t>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b="1" dirty="0">
                <a:solidFill>
                  <a:srgbClr val="C00000"/>
                </a:solidFill>
              </a:rPr>
              <a:t>randint</a:t>
            </a:r>
            <a:r>
              <a:rPr lang="en-US" sz="2600" dirty="0"/>
              <a:t> is designed to mimic Python’s indexing semantics, which means that we include the starting point and we exclude the ending point.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b="1" dirty="0">
                <a:solidFill>
                  <a:srgbClr val="C00000"/>
                </a:solidFill>
              </a:rPr>
              <a:t>np.histogram </a:t>
            </a:r>
            <a:r>
              <a:rPr lang="en-US" sz="2600" dirty="0"/>
              <a:t>is used to count up how many times each event occurred.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It is designed around plotting buckets of continuous values.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49333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 Probability </a:t>
            </a:r>
            <a:r>
              <a:rPr lang="en-US" sz="3000" b="1" dirty="0"/>
              <a:t>(continued)</a:t>
            </a:r>
            <a:endParaRPr lang="en-GB" sz="3000" b="1" dirty="0"/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9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156565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Samples can be drawn from a binomial distribution with specified parameters, </a:t>
            </a:r>
            <a:r>
              <a:rPr lang="en-US" sz="2600" b="1" dirty="0">
                <a:solidFill>
                  <a:srgbClr val="C00000"/>
                </a:solidFill>
              </a:rPr>
              <a:t>n</a:t>
            </a:r>
            <a:r>
              <a:rPr lang="en-US" sz="2600" dirty="0"/>
              <a:t> trials and </a:t>
            </a:r>
            <a:r>
              <a:rPr lang="en-US" sz="2600" b="1" dirty="0">
                <a:solidFill>
                  <a:srgbClr val="C00000"/>
                </a:solidFill>
              </a:rPr>
              <a:t>p</a:t>
            </a:r>
            <a:r>
              <a:rPr lang="en-US" sz="2600" dirty="0"/>
              <a:t> probability of success.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Where, </a:t>
            </a:r>
            <a:r>
              <a:rPr lang="en-US" sz="2600" b="1" dirty="0">
                <a:solidFill>
                  <a:srgbClr val="C00000"/>
                </a:solidFill>
              </a:rPr>
              <a:t>n</a:t>
            </a:r>
            <a:r>
              <a:rPr lang="en-US" sz="2600" dirty="0"/>
              <a:t> is an </a:t>
            </a:r>
            <a:r>
              <a:rPr lang="en-US" sz="2600" b="1" dirty="0">
                <a:solidFill>
                  <a:srgbClr val="C00000"/>
                </a:solidFill>
              </a:rPr>
              <a:t>integer &gt;= 0 </a:t>
            </a:r>
            <a:r>
              <a:rPr lang="en-US" sz="2600" dirty="0"/>
              <a:t>and </a:t>
            </a:r>
            <a:r>
              <a:rPr lang="en-US" sz="2600" b="1" dirty="0">
                <a:solidFill>
                  <a:srgbClr val="C00000"/>
                </a:solidFill>
              </a:rPr>
              <a:t>p</a:t>
            </a:r>
            <a:r>
              <a:rPr lang="en-US" sz="2600" dirty="0"/>
              <a:t> is in the interval </a:t>
            </a:r>
            <a:r>
              <a:rPr lang="en-US" sz="2600" b="1" dirty="0">
                <a:solidFill>
                  <a:srgbClr val="C00000"/>
                </a:solidFill>
              </a:rPr>
              <a:t>[0,1]</a:t>
            </a:r>
            <a:r>
              <a:rPr lang="en-US" sz="2600" dirty="0"/>
              <a:t>.</a:t>
            </a:r>
            <a:r>
              <a:rPr lang="en-US" sz="2600" b="1" dirty="0">
                <a:solidFill>
                  <a:srgbClr val="C00000"/>
                </a:solidFill>
              </a:rPr>
              <a:t>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686081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17CE4-83DB-4975-0E3F-D6560137F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>
            <a:extLst>
              <a:ext uri="{FF2B5EF4-FFF2-40B4-BE49-F238E27FC236}">
                <a16:creationId xmlns:a16="http://schemas.microsoft.com/office/drawing/2014/main" id="{7D97194A-D48D-81E1-E4C6-7659626B7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 Probability </a:t>
            </a:r>
            <a:r>
              <a:rPr lang="en-US" sz="3000" b="1" dirty="0"/>
              <a:t>(continued)</a:t>
            </a:r>
            <a:endParaRPr lang="en-GB" sz="3000" b="1" dirty="0"/>
          </a:p>
        </p:txBody>
      </p:sp>
      <p:sp>
        <p:nvSpPr>
          <p:cNvPr id="9223" name="Rectangle 10">
            <a:extLst>
              <a:ext uri="{FF2B5EF4-FFF2-40B4-BE49-F238E27FC236}">
                <a16:creationId xmlns:a16="http://schemas.microsoft.com/office/drawing/2014/main" id="{9C41EFA1-176A-D355-2817-64D45ED21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10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BB1B6E-8E67-9257-3BB9-2ECF92C28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import 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numpy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 as np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import 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matplotlib.pyplot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 as 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plt</a:t>
            </a:r>
            <a:endParaRPr lang="en-US" sz="2000" dirty="0"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marL="0" indent="0">
              <a:buClr>
                <a:srgbClr val="C00000"/>
              </a:buClr>
              <a:buNone/>
            </a:pPr>
            <a:endParaRPr lang="en-US" sz="2000" dirty="0"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marL="0" indent="0">
              <a:buClr>
                <a:srgbClr val="C00000"/>
              </a:buClr>
              <a:buNone/>
            </a:pPr>
            <a:r>
              <a:rPr lang="en-US" sz="2000" dirty="0">
                <a:latin typeface="Miriam Fixed"/>
                <a:cs typeface="Miriam Fixed"/>
              </a:rPr>
              <a:t>#np.random.randint(1,7)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fewrolls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 = 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np.random.randint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(1,7, size=10)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manyrolls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 = 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np.random.randint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(1,7, size=1000)</a:t>
            </a:r>
          </a:p>
          <a:p>
            <a:pPr marL="0" indent="0">
              <a:buClr>
                <a:srgbClr val="C00000"/>
              </a:buClr>
              <a:buNone/>
            </a:pPr>
            <a:endParaRPr lang="en-US" sz="2000" dirty="0"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marL="0" indent="0">
              <a:buClr>
                <a:srgbClr val="C00000"/>
              </a:buClr>
              <a:buNone/>
            </a:pPr>
            <a:endParaRPr lang="en-US" sz="2000" dirty="0"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marL="0" indent="0">
              <a:buClr>
                <a:srgbClr val="C00000"/>
              </a:buClr>
              <a:buNone/>
            </a:pP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fewcounts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 = 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np.histogram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(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fewrolls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, bins=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np.arange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(.5, 7.5))[0]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manycounts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 = 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np.histogram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(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manyrolls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, bins=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np.arange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(.5, 7.5))[0]</a:t>
            </a:r>
          </a:p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 </a:t>
            </a:r>
            <a:r>
              <a:rPr lang="en-US" sz="2000" b="1" dirty="0">
                <a:solidFill>
                  <a:schemeClr val="accent6"/>
                </a:solidFill>
                <a:ea typeface="+mn-lt"/>
                <a:cs typeface="+mn-lt"/>
              </a:rPr>
              <a:t>#General pattern</a:t>
            </a:r>
            <a:r>
              <a:rPr lang="en-US" sz="2000" dirty="0">
                <a:solidFill>
                  <a:schemeClr val="accent6"/>
                </a:solidFill>
                <a:ea typeface="+mn-lt"/>
                <a:cs typeface="+mn-lt"/>
              </a:rPr>
              <a:t>:</a:t>
            </a:r>
            <a:br>
              <a:rPr lang="en-US" sz="2000" dirty="0">
                <a:solidFill>
                  <a:schemeClr val="accent6"/>
                </a:solidFill>
                <a:ea typeface="+mn-lt"/>
                <a:cs typeface="+mn-lt"/>
              </a:rPr>
            </a:br>
            <a:r>
              <a:rPr lang="en-US" sz="2000" dirty="0">
                <a:solidFill>
                  <a:schemeClr val="accent6"/>
                </a:solidFill>
                <a:ea typeface="+mn-lt"/>
                <a:cs typeface="+mn-lt"/>
              </a:rPr>
              <a:t> #For values </a:t>
            </a:r>
            <a:r>
              <a:rPr lang="en-US" sz="2000" dirty="0">
                <a:solidFill>
                  <a:schemeClr val="accent6"/>
                </a:solidFill>
                <a:latin typeface="Consolas"/>
                <a:cs typeface="Miriam Fixed"/>
              </a:rPr>
              <a:t>1</a:t>
            </a:r>
            <a:r>
              <a:rPr lang="en-US" sz="2000" dirty="0">
                <a:solidFill>
                  <a:schemeClr val="accent6"/>
                </a:solidFill>
                <a:ea typeface="+mn-lt"/>
                <a:cs typeface="+mn-lt"/>
              </a:rPr>
              <a:t> to </a:t>
            </a:r>
            <a:r>
              <a:rPr lang="en-US" sz="2000" dirty="0">
                <a:solidFill>
                  <a:schemeClr val="accent6"/>
                </a:solidFill>
                <a:latin typeface="Consolas"/>
                <a:cs typeface="Miriam Fixed"/>
              </a:rPr>
              <a:t>N</a:t>
            </a:r>
            <a:r>
              <a:rPr lang="en-US" sz="2000" dirty="0">
                <a:solidFill>
                  <a:schemeClr val="accent6"/>
                </a:solidFill>
                <a:ea typeface="+mn-lt"/>
                <a:cs typeface="+mn-lt"/>
              </a:rPr>
              <a:t>, use </a:t>
            </a:r>
            <a:r>
              <a:rPr lang="en-US" sz="2000" dirty="0">
                <a:solidFill>
                  <a:schemeClr val="accent6"/>
                </a:solidFill>
                <a:latin typeface="Consolas"/>
                <a:cs typeface="Miriam Fixed"/>
              </a:rPr>
              <a:t>0.5</a:t>
            </a:r>
            <a:r>
              <a:rPr lang="en-US" sz="2000" dirty="0">
                <a:solidFill>
                  <a:schemeClr val="accent6"/>
                </a:solidFill>
                <a:ea typeface="+mn-lt"/>
                <a:cs typeface="+mn-lt"/>
              </a:rPr>
              <a:t> to </a:t>
            </a:r>
            <a:r>
              <a:rPr lang="en-US" sz="2000" dirty="0">
                <a:solidFill>
                  <a:schemeClr val="accent6"/>
                </a:solidFill>
                <a:latin typeface="Consolas"/>
                <a:cs typeface="Miriam Fixed"/>
              </a:rPr>
              <a:t>N+0.5</a:t>
            </a:r>
            <a:endParaRPr lang="en-US" dirty="0">
              <a:solidFill>
                <a:schemeClr val="accent6"/>
              </a:solidFill>
              <a:cs typeface="Miriam Fixed"/>
            </a:endParaRPr>
          </a:p>
          <a:p>
            <a:pPr marL="0" indent="0">
              <a:buClr>
                <a:srgbClr val="C00000"/>
              </a:buClr>
              <a:buNone/>
            </a:pP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fig, (ax1, ax2) = 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plt.subplots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(1, 2, 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figsize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=(8,3))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2000" dirty="0">
                <a:latin typeface="Miriam Fixed"/>
                <a:cs typeface="Miriam Fixed"/>
              </a:rPr>
              <a:t>ax1.bar(</a:t>
            </a:r>
            <a:r>
              <a:rPr lang="en-US" sz="2000" dirty="0" err="1">
                <a:latin typeface="Miriam Fixed"/>
                <a:cs typeface="Miriam Fixed"/>
              </a:rPr>
              <a:t>np.arange</a:t>
            </a:r>
            <a:r>
              <a:rPr lang="en-US" sz="2000" dirty="0">
                <a:latin typeface="Miriam Fixed"/>
                <a:cs typeface="Miriam Fixed"/>
              </a:rPr>
              <a:t>(1,7), </a:t>
            </a:r>
            <a:r>
              <a:rPr lang="en-US" sz="2000" dirty="0" err="1">
                <a:latin typeface="Miriam Fixed"/>
                <a:cs typeface="Miriam Fixed"/>
              </a:rPr>
              <a:t>fewcounts</a:t>
            </a:r>
            <a:r>
              <a:rPr lang="en-US" sz="2000" dirty="0">
                <a:latin typeface="Miriam Fixed"/>
                <a:cs typeface="Miriam Fixed"/>
              </a:rPr>
              <a:t>)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ax2.bar(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np.arange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(1,7), </a:t>
            </a:r>
            <a:r>
              <a:rPr lang="en-US" sz="20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manycounts</a:t>
            </a:r>
            <a:r>
              <a:rPr lang="en-US" sz="2000" dirty="0">
                <a:latin typeface="Miriam Fixed" panose="020B0509050101010101" pitchFamily="49" charset="-79"/>
                <a:cs typeface="Miriam Fixed" panose="020B0509050101010101" pitchFamily="49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9063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A418D-D9C4-54AF-BBAC-8824EA4BE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69" name="Rectangle 926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70" name="Rectangle 926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71" name="Rectangle 927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72" name="Rectangle 927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2" name="Rectangle 8">
            <a:extLst>
              <a:ext uri="{FF2B5EF4-FFF2-40B4-BE49-F238E27FC236}">
                <a16:creationId xmlns:a16="http://schemas.microsoft.com/office/drawing/2014/main" id="{0763248D-E478-4639-00FA-2DF8D2EAD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2.4 Probability (continued)</a:t>
            </a:r>
          </a:p>
        </p:txBody>
      </p:sp>
      <p:sp>
        <p:nvSpPr>
          <p:cNvPr id="9223" name="Rectangle 10">
            <a:extLst>
              <a:ext uri="{FF2B5EF4-FFF2-40B4-BE49-F238E27FC236}">
                <a16:creationId xmlns:a16="http://schemas.microsoft.com/office/drawing/2014/main" id="{FD7137A7-4212-31E4-1E7F-27E3EBB70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499" y="390832"/>
            <a:ext cx="3233585" cy="8736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</a:pPr>
            <a:fld id="{99150666-F597-42D3-84E3-B9A0EADB3BA3}" type="slidenum"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eaLnBrk="1" hangingPunct="1">
                <a:lnSpc>
                  <a:spcPct val="90000"/>
                </a:lnSpc>
                <a:spcBef>
                  <a:spcPts val="1000"/>
                </a:spcBef>
              </a:pPr>
              <a:t>11</a:t>
            </a:fld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Content Placeholder 9" descr="A comparison of blue and white bars&#10;&#10;AI-generated content may be incorrect.">
            <a:extLst>
              <a:ext uri="{FF2B5EF4-FFF2-40B4-BE49-F238E27FC236}">
                <a16:creationId xmlns:a16="http://schemas.microsoft.com/office/drawing/2014/main" id="{83A35E0E-15F3-A685-58F8-21368E923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98" y="1966293"/>
            <a:ext cx="1120040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1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 2.4.1 Primitive Events</a:t>
            </a:r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12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An event is an outcome or defined collection of outcomes of a random experiment.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We can get probabilities of compound events by either counting primitive events or adding up the probabilities of primitive events.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631380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 2.4.1 Primitive Events </a:t>
            </a:r>
            <a:r>
              <a:rPr lang="en-US" sz="3000" b="1" dirty="0"/>
              <a:t>(continued)</a:t>
            </a:r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13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Here are some important aspects of probability: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The sum of the probabilities of all possible primitive events in a universe is 1.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The probability of an event not occurring is 1 minus the probability of it occurring. 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There are nonprimitive events.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A compound event is a combination of primitive events. 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Compound events are recursive. 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We can create a compound event from other compound events. 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The two compound events overlap because they share primitive events. </a:t>
            </a:r>
          </a:p>
        </p:txBody>
      </p:sp>
    </p:spTree>
    <p:extLst>
      <p:ext uri="{BB962C8B-B14F-4D97-AF65-F5344CB8AC3E}">
        <p14:creationId xmlns:p14="http://schemas.microsoft.com/office/powerpoint/2010/main" val="2461487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 2.4.2 Independence</a:t>
            </a:r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14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Two events are independent if knowing one event occurred doesn't change the probability of the other event.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For example, if we flip a coin in the air and get the outcome as Head, then again if we flip the coin but this time we get the outcome as Tail.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In both cases, the occurrence of both events is independent of each other.  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Independent probabilities work both ways: they are an if-and-only-if.</a:t>
            </a:r>
          </a:p>
        </p:txBody>
      </p:sp>
    </p:spTree>
    <p:extLst>
      <p:ext uri="{BB962C8B-B14F-4D97-AF65-F5344CB8AC3E}">
        <p14:creationId xmlns:p14="http://schemas.microsoft.com/office/powerpoint/2010/main" val="3362443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 2.4.3 Conditional Probability</a:t>
            </a:r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15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Conditional probability is defined as the likelihood of an event or outcome occurring, based on the occurrence of a previous event or outcome. </a:t>
            </a:r>
          </a:p>
        </p:txBody>
      </p:sp>
    </p:spTree>
    <p:extLst>
      <p:ext uri="{BB962C8B-B14F-4D97-AF65-F5344CB8AC3E}">
        <p14:creationId xmlns:p14="http://schemas.microsoft.com/office/powerpoint/2010/main" val="992779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2.4.4 Distributions</a:t>
            </a:r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16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The mapping between events and probabilities refers to a </a:t>
            </a:r>
            <a:r>
              <a:rPr lang="en-US" sz="2600" b="1" dirty="0">
                <a:solidFill>
                  <a:schemeClr val="accent6"/>
                </a:solidFill>
              </a:rPr>
              <a:t>probability distribution</a:t>
            </a:r>
            <a:r>
              <a:rPr lang="en-US" sz="2600" dirty="0"/>
              <a:t>. 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None/>
            </a:pPr>
            <a:r>
              <a:rPr lang="en-US" b="1" dirty="0">
                <a:ea typeface="Calibri"/>
                <a:cs typeface="Calibri"/>
              </a:rPr>
              <a:t>Example: Coin flip</a:t>
            </a:r>
            <a:endParaRPr lang="en-US">
              <a:solidFill>
                <a:srgbClr val="444444"/>
              </a:solidFill>
              <a:ea typeface="Calibri"/>
              <a:cs typeface="Calibri"/>
            </a:endParaRP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a typeface="Calibri"/>
                <a:cs typeface="Calibri"/>
              </a:rPr>
              <a:t> Event: getting </a:t>
            </a:r>
            <a:r>
              <a:rPr lang="en-US" b="1" dirty="0">
                <a:ea typeface="Calibri"/>
                <a:cs typeface="Calibri"/>
              </a:rPr>
              <a:t>Heads</a:t>
            </a:r>
            <a:endParaRPr lang="en-US" dirty="0">
              <a:solidFill>
                <a:srgbClr val="444444"/>
              </a:solidFill>
              <a:ea typeface="Calibri"/>
              <a:cs typeface="Calibri"/>
            </a:endParaRP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a typeface="Calibri"/>
                <a:cs typeface="Calibri"/>
              </a:rPr>
              <a:t> Probability: </a:t>
            </a:r>
            <a:r>
              <a:rPr lang="en-US" b="1" dirty="0">
                <a:ea typeface="Calibri"/>
                <a:cs typeface="Calibri"/>
              </a:rPr>
              <a:t>0.5</a:t>
            </a:r>
            <a:endParaRPr lang="en-US">
              <a:solidFill>
                <a:srgbClr val="444444"/>
              </a:solidFill>
              <a:ea typeface="Calibri"/>
              <a:cs typeface="Calibri"/>
            </a:endParaRP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a typeface="Calibri"/>
                <a:cs typeface="Calibri"/>
              </a:rPr>
              <a:t> Event: getting </a:t>
            </a:r>
            <a:r>
              <a:rPr lang="en-US" b="1" dirty="0">
                <a:ea typeface="Calibri"/>
                <a:cs typeface="Calibri"/>
              </a:rPr>
              <a:t>Tails</a:t>
            </a:r>
            <a:endParaRPr lang="en-US">
              <a:solidFill>
                <a:srgbClr val="444444"/>
              </a:solidFill>
              <a:ea typeface="Calibri"/>
              <a:cs typeface="Calibri"/>
            </a:endParaRP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a typeface="Calibri"/>
                <a:cs typeface="Calibri"/>
              </a:rPr>
              <a:t> Probability: </a:t>
            </a:r>
            <a:r>
              <a:rPr lang="en-US" b="1" dirty="0">
                <a:ea typeface="Calibri"/>
                <a:cs typeface="Calibri"/>
              </a:rPr>
              <a:t>0.5</a:t>
            </a:r>
            <a:endParaRPr lang="en-US">
              <a:solidFill>
                <a:srgbClr val="444444"/>
              </a:solidFill>
              <a:ea typeface="Calibri"/>
              <a:cs typeface="Calibri"/>
            </a:endParaRP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u="sng" dirty="0">
                <a:ea typeface="Calibri"/>
                <a:cs typeface="Calibri"/>
              </a:rPr>
              <a:t>We’ve mapped:</a:t>
            </a:r>
            <a:endParaRPr lang="en-US" u="sng" dirty="0">
              <a:solidFill>
                <a:srgbClr val="444444"/>
              </a:solidFill>
              <a:ea typeface="Calibri"/>
              <a:cs typeface="Calibri"/>
            </a:endParaRP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a typeface="Calibri"/>
                <a:cs typeface="Calibri"/>
              </a:rPr>
              <a:t>Heads → 0.5</a:t>
            </a:r>
            <a:endParaRPr lang="en-US" dirty="0">
              <a:solidFill>
                <a:srgbClr val="444444"/>
              </a:solidFill>
              <a:ea typeface="Calibri"/>
              <a:cs typeface="Calibri"/>
            </a:endParaRPr>
          </a:p>
          <a:p>
            <a:pPr marL="914400" lvl="2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>
                <a:ea typeface="Calibri"/>
                <a:cs typeface="Calibri"/>
              </a:rPr>
              <a:t>Tails → 0.5</a:t>
            </a:r>
            <a:endParaRPr lang="en-US" dirty="0">
              <a:solidFill>
                <a:srgbClr val="444444"/>
              </a:solidFill>
              <a:ea typeface="Calibri"/>
              <a:cs typeface="Calibri"/>
            </a:endParaRP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When a group of events shares a common probability value—like the different faces on a fair die—we call it a </a:t>
            </a:r>
            <a:r>
              <a:rPr lang="en-US" sz="2600" b="1" dirty="0">
                <a:solidFill>
                  <a:schemeClr val="accent6"/>
                </a:solidFill>
              </a:rPr>
              <a:t>uniform distribution</a:t>
            </a:r>
            <a:r>
              <a:rPr lang="en-US" sz="2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37092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F2A07-7F81-5CEF-8A1D-578635B7C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>
            <a:extLst>
              <a:ext uri="{FF2B5EF4-FFF2-40B4-BE49-F238E27FC236}">
                <a16:creationId xmlns:a16="http://schemas.microsoft.com/office/drawing/2014/main" id="{B37B6B47-D348-54A4-FFEA-022981288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2.4.4 Distributions</a:t>
            </a:r>
          </a:p>
        </p:txBody>
      </p:sp>
      <p:sp>
        <p:nvSpPr>
          <p:cNvPr id="9223" name="Rectangle 10">
            <a:extLst>
              <a:ext uri="{FF2B5EF4-FFF2-40B4-BE49-F238E27FC236}">
                <a16:creationId xmlns:a16="http://schemas.microsoft.com/office/drawing/2014/main" id="{0447E900-4624-8658-D19B-A231BF662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17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0DEDE6-99C7-0621-6931-426D5592A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Clr>
                <a:srgbClr val="C00000"/>
              </a:buClr>
              <a:buNone/>
            </a:pPr>
            <a:endParaRPr lang="en-US" sz="2600" dirty="0"/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When a group of events shares a common probability value—like the different faces on a fair die—we call it a </a:t>
            </a:r>
            <a:r>
              <a:rPr lang="en-US" sz="2600" b="1" dirty="0">
                <a:solidFill>
                  <a:schemeClr val="accent6"/>
                </a:solidFill>
              </a:rPr>
              <a:t>uniform distribution</a:t>
            </a:r>
            <a:r>
              <a:rPr lang="en-US" sz="2600" dirty="0"/>
              <a:t>. 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2600" dirty="0">
                <a:ea typeface="Calibri" panose="020F0502020204030204"/>
                <a:cs typeface="Calibri" panose="020F0502020204030204"/>
              </a:rPr>
              <a:t>Example: A fair die has outcomes 1, 2, 3, 4, 5, 6</a:t>
            </a:r>
          </a:p>
          <a:p>
            <a:pPr marL="0" indent="0">
              <a:buNone/>
            </a:pPr>
            <a:r>
              <a:rPr lang="en-US" sz="2600" dirty="0">
                <a:ea typeface="Calibri" panose="020F0502020204030204"/>
                <a:cs typeface="Calibri" panose="020F0502020204030204"/>
              </a:rPr>
              <a:t>                  </a:t>
            </a:r>
            <a:r>
              <a:rPr lang="en-US" sz="2600" dirty="0">
                <a:ea typeface="+mn-lt"/>
                <a:cs typeface="+mn-lt"/>
              </a:rPr>
              <a:t>Each one has the </a:t>
            </a:r>
            <a:r>
              <a:rPr lang="en-US" sz="2600" b="1" dirty="0">
                <a:ea typeface="+mn-lt"/>
                <a:cs typeface="+mn-lt"/>
              </a:rPr>
              <a:t>same probability</a:t>
            </a:r>
            <a:r>
              <a:rPr lang="en-US" sz="2600" dirty="0">
                <a:ea typeface="+mn-lt"/>
                <a:cs typeface="+mn-lt"/>
              </a:rPr>
              <a:t>: </a:t>
            </a:r>
          </a:p>
          <a:p>
            <a:pPr marL="0" indent="0">
              <a:buNone/>
            </a:pPr>
            <a:r>
              <a:rPr lang="en-US" sz="2600" dirty="0">
                <a:ea typeface="+mn-lt"/>
                <a:cs typeface="+mn-lt"/>
              </a:rPr>
              <a:t>                                P(1) = 1/6</a:t>
            </a:r>
            <a:endParaRPr lang="en-US" dirty="0"/>
          </a:p>
          <a:p>
            <a:pPr marL="0" indent="0">
              <a:buNone/>
            </a:pPr>
            <a:r>
              <a:rPr lang="en-US" sz="2600" dirty="0">
                <a:ea typeface="Calibri" panose="020F0502020204030204"/>
                <a:cs typeface="Calibri" panose="020F0502020204030204"/>
              </a:rPr>
              <a:t>                                P(2) = 1/6</a:t>
            </a:r>
            <a:endParaRPr lang="en-US" dirty="0"/>
          </a:p>
          <a:p>
            <a:pPr marL="0" indent="0">
              <a:buNone/>
            </a:pPr>
            <a:r>
              <a:rPr lang="en-US" sz="2600" dirty="0">
                <a:ea typeface="Calibri" panose="020F0502020204030204"/>
                <a:cs typeface="Calibri" panose="020F0502020204030204"/>
              </a:rPr>
              <a:t>                                P(3) = 1/6 </a:t>
            </a:r>
            <a:endParaRPr lang="en-US" dirty="0"/>
          </a:p>
          <a:p>
            <a:pPr marL="0" indent="0">
              <a:buNone/>
            </a:pPr>
            <a:r>
              <a:rPr lang="en-US" sz="2600" dirty="0">
                <a:ea typeface="Calibri" panose="020F0502020204030204"/>
                <a:cs typeface="Calibri" panose="020F0502020204030204"/>
              </a:rPr>
              <a:t>                                P(4) = 1/6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600" dirty="0">
                <a:ea typeface="Calibri" panose="020F0502020204030204"/>
                <a:cs typeface="Calibri" panose="020F0502020204030204"/>
              </a:rPr>
              <a:t>                                P(5) = 1/6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600" dirty="0">
                <a:ea typeface="Calibri" panose="020F0502020204030204"/>
                <a:cs typeface="Calibri" panose="020F0502020204030204"/>
              </a:rPr>
              <a:t>                                P(6) = 1/6 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2772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B9C1-EC15-32E5-F6CF-12D64E7D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>
            <a:extLst>
              <a:ext uri="{FF2B5EF4-FFF2-40B4-BE49-F238E27FC236}">
                <a16:creationId xmlns:a16="http://schemas.microsoft.com/office/drawing/2014/main" id="{8D57B8E8-CFB5-A68D-81A0-72072E15D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2.4.4 Distributions</a:t>
            </a:r>
          </a:p>
        </p:txBody>
      </p:sp>
      <p:sp>
        <p:nvSpPr>
          <p:cNvPr id="9223" name="Rectangle 10">
            <a:extLst>
              <a:ext uri="{FF2B5EF4-FFF2-40B4-BE49-F238E27FC236}">
                <a16:creationId xmlns:a16="http://schemas.microsoft.com/office/drawing/2014/main" id="{D89517A2-16DD-3D4C-A388-0E848B788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18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C98E7A-A0BF-56B8-CD64-6DCFEFD5C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952" y="1264935"/>
            <a:ext cx="9934049" cy="54406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endParaRPr lang="en-US" sz="2600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b="1" dirty="0">
                <a:solidFill>
                  <a:schemeClr val="accent6"/>
                </a:solidFill>
              </a:rPr>
              <a:t>Poisson distribution </a:t>
            </a:r>
            <a:r>
              <a:rPr lang="en-US" sz="2600" dirty="0"/>
              <a:t>describes the distribution of binary data from an infinite sample. </a:t>
            </a:r>
          </a:p>
          <a:p>
            <a:pPr lvl="1">
              <a:buClr>
                <a:srgbClr val="C00000"/>
              </a:buClr>
            </a:pP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A </a:t>
            </a:r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Poisson distribution</a:t>
            </a: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 is used when:</a:t>
            </a:r>
            <a:endParaRPr lang="en-US" sz="1800" dirty="0">
              <a:solidFill>
                <a:srgbClr val="000000"/>
              </a:solidFill>
              <a:ea typeface="Calibri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We count </a:t>
            </a:r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</a:rPr>
              <a:t>how many times something happens</a:t>
            </a:r>
            <a:endParaRPr lang="en-US" sz="1400" dirty="0">
              <a:ea typeface="Calibri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In a </a:t>
            </a:r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</a:rPr>
              <a:t>fixed interval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(time, space, area)</a:t>
            </a:r>
            <a:endParaRPr lang="en-US" sz="1400" dirty="0">
              <a:ea typeface="Calibri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Events happen </a:t>
            </a:r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</a:rPr>
              <a:t>independently</a:t>
            </a:r>
            <a:endParaRPr lang="en-US" sz="1400" dirty="0">
              <a:ea typeface="Calibri"/>
              <a:cs typeface="Calibri"/>
            </a:endParaRPr>
          </a:p>
          <a:p>
            <a:pPr marL="0" indent="0">
              <a:buClr>
                <a:srgbClr val="C00000"/>
              </a:buClr>
              <a:buNone/>
            </a:pPr>
            <a:r>
              <a:rPr lang="en-US" sz="2200" b="1" dirty="0">
                <a:solidFill>
                  <a:srgbClr val="000000"/>
                </a:solidFill>
                <a:ea typeface="+mn-lt"/>
                <a:cs typeface="+mn-lt"/>
              </a:rPr>
              <a:t>examples: </a:t>
            </a:r>
            <a:r>
              <a:rPr lang="en-US" sz="2200" dirty="0">
                <a:solidFill>
                  <a:srgbClr val="000000"/>
                </a:solidFill>
                <a:ea typeface="+mn-lt"/>
                <a:cs typeface="+mn-lt"/>
              </a:rPr>
              <a:t>Each moment is basically </a:t>
            </a:r>
            <a:r>
              <a:rPr lang="en-US" sz="2200" b="1" dirty="0">
                <a:solidFill>
                  <a:srgbClr val="000000"/>
                </a:solidFill>
                <a:ea typeface="+mn-lt"/>
                <a:cs typeface="+mn-lt"/>
              </a:rPr>
              <a:t>yes/no</a:t>
            </a:r>
            <a:r>
              <a:rPr lang="en-US" sz="2200" dirty="0">
                <a:solidFill>
                  <a:srgbClr val="000000"/>
                </a:solidFill>
                <a:ea typeface="+mn-lt"/>
                <a:cs typeface="+mn-lt"/>
              </a:rPr>
              <a:t> (event happened or not), but we count </a:t>
            </a:r>
            <a:r>
              <a:rPr lang="en-US" sz="2200" b="1" dirty="0">
                <a:solidFill>
                  <a:srgbClr val="000000"/>
                </a:solidFill>
                <a:ea typeface="+mn-lt"/>
                <a:cs typeface="+mn-lt"/>
              </a:rPr>
              <a:t>how many total events occur</a:t>
            </a:r>
            <a:r>
              <a:rPr lang="en-US" sz="22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sz="2200" dirty="0">
              <a:solidFill>
                <a:srgbClr val="000000"/>
              </a:solidFill>
              <a:ea typeface="Calibri"/>
              <a:cs typeface="Calibri"/>
            </a:endParaRPr>
          </a:p>
          <a:p>
            <a:pPr lvl="1"/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Number of emails you receive </a:t>
            </a:r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per hour</a:t>
            </a:r>
            <a:endParaRPr lang="en-US" sz="1800" dirty="0">
              <a:ea typeface="Calibri"/>
              <a:cs typeface="Calibri"/>
            </a:endParaRPr>
          </a:p>
          <a:p>
            <a:pPr lvl="1"/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Number of cars passing a toll booth </a:t>
            </a:r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per minute</a:t>
            </a:r>
            <a:endParaRPr lang="en-US" sz="1800" dirty="0">
              <a:ea typeface="Calibri"/>
              <a:cs typeface="Calibri"/>
            </a:endParaRPr>
          </a:p>
          <a:p>
            <a:pPr lvl="1"/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Number of typos on a page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endParaRPr lang="en-US" sz="18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Key</a:t>
            </a:r>
            <a:r>
              <a:rPr lang="en-US" sz="1800" dirty="0">
                <a:ea typeface="+mn-lt"/>
                <a:cs typeface="+mn-lt"/>
              </a:rPr>
              <a:t> idea:</a:t>
            </a:r>
            <a:endParaRPr lang="en-US" dirty="0">
              <a:ea typeface="+mn-lt"/>
              <a:cs typeface="+mn-lt"/>
            </a:endParaRPr>
          </a:p>
          <a:p>
            <a:pPr lvl="1">
              <a:buNone/>
            </a:pPr>
            <a:r>
              <a:rPr lang="en-US" sz="1800" dirty="0">
                <a:ea typeface="+mn-lt"/>
                <a:cs typeface="+mn-lt"/>
              </a:rPr>
              <a:t>Poisson = counting rare or random events over time or space.</a:t>
            </a:r>
            <a:endParaRPr lang="en-US" dirty="0">
              <a:ea typeface="+mn-lt"/>
              <a:cs typeface="+mn-lt"/>
            </a:endParaRPr>
          </a:p>
          <a:p>
            <a:pPr lvl="1"/>
            <a:endParaRPr lang="en-US" sz="1800" dirty="0">
              <a:ea typeface="Calibri"/>
              <a:cs typeface="Calibri"/>
            </a:endParaRPr>
          </a:p>
          <a:p>
            <a:pPr lvl="1"/>
            <a:endParaRPr lang="en-US" sz="1800" dirty="0">
              <a:ea typeface="Calibri"/>
              <a:cs typeface="Calibri"/>
            </a:endParaRPr>
          </a:p>
          <a:p>
            <a:pPr marL="0" indent="0">
              <a:buClr>
                <a:srgbClr val="C00000"/>
              </a:buClr>
              <a:buNone/>
            </a:pPr>
            <a:endParaRPr lang="en-US" sz="2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9876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B2389-7251-8832-14C3-2DF9D77F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>
            <a:extLst>
              <a:ext uri="{FF2B5EF4-FFF2-40B4-BE49-F238E27FC236}">
                <a16:creationId xmlns:a16="http://schemas.microsoft.com/office/drawing/2014/main" id="{3932D4E0-DF86-0D38-B195-F990668EE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2.4.4 Distributions</a:t>
            </a:r>
          </a:p>
        </p:txBody>
      </p:sp>
      <p:sp>
        <p:nvSpPr>
          <p:cNvPr id="9223" name="Rectangle 10">
            <a:extLst>
              <a:ext uri="{FF2B5EF4-FFF2-40B4-BE49-F238E27FC236}">
                <a16:creationId xmlns:a16="http://schemas.microsoft.com/office/drawing/2014/main" id="{0C03FC2A-5425-E742-B25C-040013918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19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7B29E2-BBC4-6B3D-7A63-07818E483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707" y="941597"/>
            <a:ext cx="9747111" cy="49816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endParaRPr lang="en-US" sz="2600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b="1" dirty="0">
                <a:solidFill>
                  <a:schemeClr val="accent6"/>
                </a:solidFill>
              </a:rPr>
              <a:t>Gaussian distribution</a:t>
            </a:r>
            <a:r>
              <a:rPr lang="en-US" sz="2600" dirty="0"/>
              <a:t> (also known as </a:t>
            </a:r>
            <a:r>
              <a:rPr lang="en-US" sz="2600" b="1" dirty="0">
                <a:solidFill>
                  <a:schemeClr val="accent6"/>
                </a:solidFill>
              </a:rPr>
              <a:t>normal distribution</a:t>
            </a:r>
            <a:r>
              <a:rPr lang="en-US" sz="2600" dirty="0"/>
              <a:t>) is a continuous probability distribution wherein values lie in a symmetrical fashion around the mean.</a:t>
            </a:r>
          </a:p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>
                <a:ea typeface="+mn-lt"/>
                <a:cs typeface="+mn-lt"/>
              </a:rPr>
              <a:t>This is the famous </a:t>
            </a:r>
            <a:r>
              <a:rPr lang="en-US" sz="2600" b="1" dirty="0">
                <a:ea typeface="+mn-lt"/>
                <a:cs typeface="+mn-lt"/>
              </a:rPr>
              <a:t>bell-shaped curve.</a:t>
            </a:r>
            <a:endParaRPr lang="en-US" sz="2600" dirty="0">
              <a:ea typeface="+mn-lt"/>
              <a:cs typeface="+mn-lt"/>
            </a:endParaRPr>
          </a:p>
          <a:p>
            <a:pPr marL="0" indent="0">
              <a:buClr>
                <a:srgbClr val="C00000"/>
              </a:buClr>
              <a:buNone/>
            </a:pPr>
            <a:r>
              <a:rPr lang="en-US" sz="2600" b="1" dirty="0">
                <a:ea typeface="+mn-lt"/>
                <a:cs typeface="+mn-lt"/>
              </a:rPr>
              <a:t>Examples: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2600" dirty="0">
                <a:ea typeface="+mn-lt"/>
                <a:cs typeface="+mn-lt"/>
              </a:rPr>
              <a:t>Heights of students in a class</a:t>
            </a:r>
            <a:endParaRPr lang="en-US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600" dirty="0">
                <a:ea typeface="+mn-lt"/>
                <a:cs typeface="+mn-lt"/>
              </a:rPr>
              <a:t>Exam scores</a:t>
            </a:r>
            <a:endParaRPr lang="en-US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600" dirty="0">
                <a:ea typeface="+mn-lt"/>
                <a:cs typeface="+mn-lt"/>
              </a:rPr>
              <a:t>Measurement errors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2600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65624-691F-2D54-67BF-A5CEE9B0C69F}"/>
              </a:ext>
            </a:extLst>
          </p:cNvPr>
          <p:cNvSpPr txBox="1"/>
          <p:nvPr/>
        </p:nvSpPr>
        <p:spPr>
          <a:xfrm>
            <a:off x="7657856" y="3160202"/>
            <a:ext cx="4170608" cy="27484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ea typeface="Calibri"/>
                <a:cs typeface="Calibri"/>
              </a:rPr>
              <a:t>Most values:</a:t>
            </a:r>
            <a:endParaRPr lang="en-US" b="1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400" dirty="0">
                <a:ea typeface="Calibri"/>
                <a:cs typeface="Calibri"/>
              </a:rPr>
              <a:t>Cluster around the </a:t>
            </a:r>
            <a:r>
              <a:rPr lang="en-US" sz="2400" b="1" dirty="0">
                <a:ea typeface="Calibri"/>
                <a:cs typeface="Calibri"/>
              </a:rPr>
              <a:t>average (mean)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400" dirty="0">
                <a:ea typeface="Calibri"/>
                <a:cs typeface="Calibri"/>
              </a:rPr>
              <a:t>Fewer values appear as you move away from the mean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3749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2.4.4 Distributions </a:t>
            </a:r>
            <a:r>
              <a:rPr lang="en-US" sz="3000" b="1" dirty="0"/>
              <a:t>(continued)</a:t>
            </a:r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20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Calibri" panose="020F0502020204030204" pitchFamily="34" charset="0"/>
              <a:buChar char="»"/>
            </a:pPr>
            <a:r>
              <a:rPr lang="en-US" sz="2600" dirty="0"/>
              <a:t>The normal distribution has the following characteristics: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Its midpoint has the most likely value.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It is symmetric.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It can be mirrored about its midpoint.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600" dirty="0"/>
              <a:t>As we get further from the midpoint, the values fall off more and more quickly.</a:t>
            </a:r>
          </a:p>
        </p:txBody>
      </p:sp>
    </p:spTree>
    <p:extLst>
      <p:ext uri="{BB962C8B-B14F-4D97-AF65-F5344CB8AC3E}">
        <p14:creationId xmlns:p14="http://schemas.microsoft.com/office/powerpoint/2010/main" val="621179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D2E05-E39A-C38C-0BEC-E1D0B3AF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>
            <a:extLst>
              <a:ext uri="{FF2B5EF4-FFF2-40B4-BE49-F238E27FC236}">
                <a16:creationId xmlns:a16="http://schemas.microsoft.com/office/drawing/2014/main" id="{62ADFADD-9D1D-4A53-7548-D7CBCB404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2.4.4 Distributions </a:t>
            </a:r>
            <a:r>
              <a:rPr lang="en-US" sz="3000" b="1" dirty="0"/>
              <a:t>(continued)</a:t>
            </a:r>
          </a:p>
        </p:txBody>
      </p:sp>
      <p:sp>
        <p:nvSpPr>
          <p:cNvPr id="9223" name="Rectangle 10">
            <a:extLst>
              <a:ext uri="{FF2B5EF4-FFF2-40B4-BE49-F238E27FC236}">
                <a16:creationId xmlns:a16="http://schemas.microsoft.com/office/drawing/2014/main" id="{37D4F432-ADCA-F431-FAA1-4FFFF9893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21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DDA437-BBCC-DE4B-F5C7-2050C566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n-US" sz="2600" dirty="0">
                <a:latin typeface="Miriam Fixed" panose="020B0509050101010101" pitchFamily="49" charset="-79"/>
                <a:cs typeface="Miriam Fixed" panose="020B0509050101010101" pitchFamily="49" charset="-79"/>
              </a:rPr>
              <a:t>Write a Python code to plot a probability distribution graph that illustrates the probability of flipping a coin 5 times.</a:t>
            </a:r>
          </a:p>
          <a:p>
            <a:pPr marL="0" indent="0">
              <a:buClr>
                <a:srgbClr val="C00000"/>
              </a:buClr>
              <a:buNone/>
            </a:pPr>
            <a:endParaRPr lang="en-US" sz="2600" dirty="0"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marL="0" indent="0">
              <a:buClr>
                <a:srgbClr val="C00000"/>
              </a:buClr>
              <a:buNone/>
            </a:pPr>
            <a:r>
              <a:rPr lang="en-US" sz="2600" dirty="0">
                <a:latin typeface="Miriam Fixed" panose="020B0509050101010101" pitchFamily="49" charset="-79"/>
                <a:cs typeface="Miriam Fixed" panose="020B0509050101010101" pitchFamily="49" charset="-79"/>
              </a:rPr>
              <a:t>Import </a:t>
            </a:r>
            <a:r>
              <a:rPr lang="en-US" sz="26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scipy.stats</a:t>
            </a:r>
            <a:r>
              <a:rPr lang="en-US" sz="2600" dirty="0">
                <a:latin typeface="Miriam Fixed" panose="020B0509050101010101" pitchFamily="49" charset="-79"/>
                <a:cs typeface="Miriam Fixed" panose="020B0509050101010101" pitchFamily="49" charset="-79"/>
              </a:rPr>
              <a:t> as ss</a:t>
            </a:r>
          </a:p>
          <a:p>
            <a:pPr marL="0" indent="0">
              <a:buClr>
                <a:srgbClr val="C00000"/>
              </a:buClr>
              <a:buNone/>
            </a:pPr>
            <a:endParaRPr lang="en-US" sz="2600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2600" dirty="0">
                <a:latin typeface="Miriam Fixed" panose="020B0509050101010101" pitchFamily="49" charset="-79"/>
                <a:cs typeface="Miriam Fixed" panose="020B0509050101010101" pitchFamily="49" charset="-79"/>
              </a:rPr>
              <a:t>b = </a:t>
            </a:r>
            <a:r>
              <a:rPr lang="en-US" sz="26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ss.distributions.binom</a:t>
            </a:r>
            <a:endParaRPr lang="en-US" sz="2600" dirty="0"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marL="0" indent="0">
              <a:buClr>
                <a:srgbClr val="C00000"/>
              </a:buClr>
              <a:buNone/>
            </a:pPr>
            <a:r>
              <a:rPr lang="en-US" sz="2600" dirty="0">
                <a:latin typeface="Miriam Fixed" panose="020B0509050101010101" pitchFamily="49" charset="-79"/>
                <a:cs typeface="Miriam Fixed" panose="020B0509050101010101" pitchFamily="49" charset="-79"/>
              </a:rPr>
              <a:t>for flips in [5, 10, 20, 40, 80]: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en-US" sz="2200" dirty="0">
                <a:latin typeface="Miriam Fixed"/>
                <a:cs typeface="Miriam Fixed"/>
              </a:rPr>
              <a:t>    success = </a:t>
            </a:r>
            <a:r>
              <a:rPr lang="en-US" sz="2200" dirty="0" err="1">
                <a:latin typeface="Miriam Fixed"/>
                <a:cs typeface="Miriam Fixed"/>
              </a:rPr>
              <a:t>np.arange</a:t>
            </a:r>
            <a:r>
              <a:rPr lang="en-US" sz="2200" dirty="0">
                <a:latin typeface="Miriam Fixed"/>
                <a:cs typeface="Miriam Fixed"/>
              </a:rPr>
              <a:t>(flips)</a:t>
            </a:r>
          </a:p>
          <a:p>
            <a:pPr marL="457200" lvl="1" indent="0">
              <a:buNone/>
            </a:pPr>
            <a:r>
              <a:rPr lang="en-US" sz="2200" dirty="0">
                <a:latin typeface="Miriam Fixed"/>
                <a:cs typeface="Miriam Fixed"/>
              </a:rPr>
              <a:t>    </a:t>
            </a:r>
            <a:r>
              <a:rPr lang="en-US" sz="2200" err="1">
                <a:latin typeface="Miriam Fixed"/>
                <a:cs typeface="Miriam Fixed"/>
              </a:rPr>
              <a:t>ourdistb</a:t>
            </a:r>
            <a:r>
              <a:rPr lang="en-US" sz="2200" dirty="0">
                <a:latin typeface="Miriam Fixed"/>
                <a:cs typeface="Miriam Fixed"/>
              </a:rPr>
              <a:t> = </a:t>
            </a:r>
            <a:r>
              <a:rPr lang="en-US" sz="2200" err="1">
                <a:latin typeface="Miriam Fixed"/>
                <a:cs typeface="Miriam Fixed"/>
              </a:rPr>
              <a:t>b.pmf</a:t>
            </a:r>
            <a:r>
              <a:rPr lang="en-US" sz="2200" dirty="0">
                <a:latin typeface="Miriam Fixed"/>
                <a:cs typeface="Miriam Fixed"/>
              </a:rPr>
              <a:t>(success, flips, .5)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en-US" sz="2200" dirty="0">
                <a:latin typeface="Miriam Fixed"/>
                <a:cs typeface="Miriam Fixed"/>
              </a:rPr>
              <a:t>    </a:t>
            </a:r>
            <a:r>
              <a:rPr lang="en-US" sz="2200" err="1">
                <a:latin typeface="Miriam Fixed"/>
                <a:cs typeface="Miriam Fixed"/>
              </a:rPr>
              <a:t>plt.hist</a:t>
            </a:r>
            <a:r>
              <a:rPr lang="en-US" sz="2200" dirty="0">
                <a:latin typeface="Miriam Fixed"/>
                <a:cs typeface="Miriam Fixed"/>
              </a:rPr>
              <a:t>(success, flips, weights=</a:t>
            </a:r>
            <a:r>
              <a:rPr lang="en-US" sz="2200" err="1">
                <a:latin typeface="Miriam Fixed"/>
                <a:cs typeface="Miriam Fixed"/>
              </a:rPr>
              <a:t>ourdistb</a:t>
            </a:r>
            <a:r>
              <a:rPr lang="en-US" sz="2200" dirty="0">
                <a:latin typeface="Miriam Fixed"/>
                <a:cs typeface="Miriam Fixed"/>
              </a:rPr>
              <a:t>)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2600" dirty="0" err="1">
                <a:latin typeface="Miriam Fixed" panose="020B0509050101010101" pitchFamily="49" charset="-79"/>
                <a:cs typeface="Miriam Fixed" panose="020B0509050101010101" pitchFamily="49" charset="-79"/>
              </a:rPr>
              <a:t>plt.xlim</a:t>
            </a:r>
            <a:r>
              <a:rPr lang="en-US" sz="2600" dirty="0">
                <a:latin typeface="Miriam Fixed" panose="020B0509050101010101" pitchFamily="49" charset="-79"/>
                <a:cs typeface="Miriam Fixed" panose="020B0509050101010101" pitchFamily="49" charset="-79"/>
              </a:rPr>
              <a:t>(0, 55)</a:t>
            </a:r>
          </a:p>
        </p:txBody>
      </p:sp>
    </p:spTree>
    <p:extLst>
      <p:ext uri="{BB962C8B-B14F-4D97-AF65-F5344CB8AC3E}">
        <p14:creationId xmlns:p14="http://schemas.microsoft.com/office/powerpoint/2010/main" val="2666899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B2CEC5-59B4-7C6C-6D4E-239E2678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39" name="Rectangle 923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0" name="Rectangle 923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1" name="Rectangle 924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4" name="Rectangle 923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2" name="Rectangle 8">
            <a:extLst>
              <a:ext uri="{FF2B5EF4-FFF2-40B4-BE49-F238E27FC236}">
                <a16:creationId xmlns:a16="http://schemas.microsoft.com/office/drawing/2014/main" id="{1282E490-532F-2B53-7937-2DED3A794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2.4.4 Distributions (continued)</a:t>
            </a:r>
          </a:p>
        </p:txBody>
      </p:sp>
      <p:sp>
        <p:nvSpPr>
          <p:cNvPr id="9223" name="Rectangle 10">
            <a:extLst>
              <a:ext uri="{FF2B5EF4-FFF2-40B4-BE49-F238E27FC236}">
                <a16:creationId xmlns:a16="http://schemas.microsoft.com/office/drawing/2014/main" id="{F34A20E3-05BD-0533-FC0F-F24A2B59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499" y="390832"/>
            <a:ext cx="3233585" cy="8736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</a:pPr>
            <a:fld id="{99150666-F597-42D3-84E3-B9A0EADB3BA3}" type="slidenum"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eaLnBrk="1" hangingPunct="1">
                <a:lnSpc>
                  <a:spcPct val="90000"/>
                </a:lnSpc>
                <a:spcBef>
                  <a:spcPts val="1000"/>
                </a:spcBef>
              </a:pPr>
              <a:t>22</a:t>
            </a:fld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9E33B5-5B12-3A01-1F43-EB8672BA7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221" y="1966293"/>
            <a:ext cx="6183556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83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78059-D9E1-77E2-8DC4-408DB5B7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>
            <a:extLst>
              <a:ext uri="{FF2B5EF4-FFF2-40B4-BE49-F238E27FC236}">
                <a16:creationId xmlns:a16="http://schemas.microsoft.com/office/drawing/2014/main" id="{C5C95B63-23BE-B7BA-8F80-8AF246A68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2.4.4 Distributions </a:t>
            </a:r>
            <a:r>
              <a:rPr lang="en-US" sz="3000" b="1" dirty="0"/>
              <a:t>(continued)</a:t>
            </a:r>
          </a:p>
        </p:txBody>
      </p:sp>
      <p:sp>
        <p:nvSpPr>
          <p:cNvPr id="9223" name="Rectangle 10">
            <a:extLst>
              <a:ext uri="{FF2B5EF4-FFF2-40B4-BE49-F238E27FC236}">
                <a16:creationId xmlns:a16="http://schemas.microsoft.com/office/drawing/2014/main" id="{F513C71F-B8BC-7503-F393-4763EE5F0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9619" y="6371303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23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7411CC-0AD0-C423-7CD1-9F85076F9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489" y="960156"/>
            <a:ext cx="10585212" cy="5897844"/>
          </a:xfrm>
        </p:spPr>
        <p:txBody>
          <a:bodyPr vert="horz" lIns="91440" tIns="45720" rIns="91440" bIns="45720" rtlCol="0" anchor="t">
            <a:normAutofit fontScale="40000" lnSpcReduction="2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n-US" sz="6000" dirty="0">
                <a:latin typeface="Calibri Light"/>
                <a:ea typeface="Calibri Light"/>
                <a:cs typeface="Miriam Fixed"/>
              </a:rPr>
              <a:t>Write a Python code to plot a probability distribution graph that illustrates the probability of flipping a coin 6 times using subplots.</a:t>
            </a:r>
          </a:p>
          <a:p>
            <a:pPr>
              <a:buNone/>
            </a:pPr>
            <a:endParaRPr lang="en-US" sz="6000" dirty="0">
              <a:solidFill>
                <a:srgbClr val="9723B4"/>
              </a:solidFill>
              <a:highlight>
                <a:srgbClr val="FFFFFF"/>
              </a:highlight>
              <a:latin typeface="Calibri Light"/>
              <a:ea typeface="+mn-lt"/>
              <a:cs typeface="+mn-lt"/>
            </a:endParaRPr>
          </a:p>
          <a:p>
            <a:pPr>
              <a:buNone/>
            </a:pPr>
            <a:r>
              <a:rPr lang="en-US" sz="6000" dirty="0">
                <a:solidFill>
                  <a:srgbClr val="9723B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import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</a:t>
            </a: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numpy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</a:t>
            </a:r>
            <a:r>
              <a:rPr lang="en-US" sz="6000" dirty="0">
                <a:solidFill>
                  <a:srgbClr val="9723B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as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np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r>
              <a:rPr lang="en-US" sz="6000" dirty="0">
                <a:solidFill>
                  <a:srgbClr val="9723B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import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</a:t>
            </a: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matplotlib.pyplot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</a:t>
            </a:r>
            <a:r>
              <a:rPr lang="en-US" sz="6000" dirty="0">
                <a:solidFill>
                  <a:srgbClr val="9723B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as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</a:t>
            </a: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plt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r>
              <a:rPr lang="en-US" sz="6000" dirty="0">
                <a:solidFill>
                  <a:srgbClr val="9723B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import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</a:t>
            </a: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scipy.stats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</a:t>
            </a:r>
            <a:r>
              <a:rPr lang="en-US" sz="6000" dirty="0">
                <a:solidFill>
                  <a:srgbClr val="9723B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as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ss</a:t>
            </a:r>
            <a:br>
              <a:rPr lang="en-US" sz="6000" dirty="0">
                <a:latin typeface="Miriam Fixed"/>
              </a:rPr>
            </a:br>
            <a:endParaRPr lang="en-US" sz="6000" dirty="0">
              <a:latin typeface="Miriam Fixed"/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r>
              <a:rPr lang="en-US" sz="6000" dirty="0">
                <a:solidFill>
                  <a:srgbClr val="008000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# Binomial distribution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b = </a:t>
            </a: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ss.distributions.binom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endParaRPr lang="en-US" sz="6000" dirty="0">
              <a:solidFill>
                <a:srgbClr val="008000"/>
              </a:solidFill>
              <a:highlight>
                <a:srgbClr val="FFFFFF"/>
              </a:highlight>
              <a:latin typeface="Miriam Fixed"/>
              <a:ea typeface="+mn-lt"/>
              <a:cs typeface="+mn-lt"/>
            </a:endParaRPr>
          </a:p>
          <a:p>
            <a:pPr>
              <a:buNone/>
            </a:pPr>
            <a:r>
              <a:rPr lang="en-US" sz="6000" dirty="0">
                <a:solidFill>
                  <a:srgbClr val="008000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# Flip counts we want to display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flips_list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= [</a:t>
            </a:r>
            <a:r>
              <a:rPr lang="en-US" sz="60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5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, </a:t>
            </a:r>
            <a:r>
              <a:rPr lang="en-US" sz="60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10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, </a:t>
            </a:r>
            <a:r>
              <a:rPr lang="en-US" sz="60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20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, </a:t>
            </a:r>
            <a:r>
              <a:rPr lang="en-US" sz="60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40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, </a:t>
            </a:r>
            <a:r>
              <a:rPr lang="en-US" sz="60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80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, </a:t>
            </a:r>
            <a:r>
              <a:rPr lang="en-US" sz="60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100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]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endParaRPr lang="en-US" sz="6000" dirty="0">
              <a:solidFill>
                <a:srgbClr val="008000"/>
              </a:solidFill>
              <a:highlight>
                <a:srgbClr val="FFFFFF"/>
              </a:highlight>
              <a:latin typeface="Miriam Fixed"/>
              <a:ea typeface="+mn-lt"/>
              <a:cs typeface="+mn-lt"/>
            </a:endParaRPr>
          </a:p>
          <a:p>
            <a:pPr>
              <a:buNone/>
            </a:pPr>
            <a:r>
              <a:rPr lang="en-US" sz="6000" dirty="0">
                <a:solidFill>
                  <a:srgbClr val="008000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# Create a 3x3 grid of subplots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fig, axes = </a:t>
            </a: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plt.subplots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(</a:t>
            </a:r>
            <a:r>
              <a:rPr lang="en-US" sz="60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3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, </a:t>
            </a:r>
            <a:r>
              <a:rPr lang="en-US" sz="60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3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, </a:t>
            </a: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figsize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=(</a:t>
            </a:r>
            <a:r>
              <a:rPr lang="en-US" sz="60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10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, </a:t>
            </a:r>
            <a:r>
              <a:rPr lang="en-US" sz="60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8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))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axes = </a:t>
            </a: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axes.flatten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() </a:t>
            </a:r>
            <a:r>
              <a:rPr lang="en-US" sz="6000" dirty="0">
                <a:solidFill>
                  <a:srgbClr val="008000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# make indexing easier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endParaRPr lang="en-US" sz="6000" dirty="0">
              <a:solidFill>
                <a:srgbClr val="9723B4"/>
              </a:solidFill>
              <a:highlight>
                <a:srgbClr val="FFFFFF"/>
              </a:highlight>
              <a:latin typeface="Calibri 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0062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99F32-330C-E588-4367-C1189E6B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>
            <a:extLst>
              <a:ext uri="{FF2B5EF4-FFF2-40B4-BE49-F238E27FC236}">
                <a16:creationId xmlns:a16="http://schemas.microsoft.com/office/drawing/2014/main" id="{F10BE499-0CBD-A7A8-E378-06A15400B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2.4.4 Distributions </a:t>
            </a:r>
            <a:r>
              <a:rPr lang="en-US" sz="3000" b="1" dirty="0"/>
              <a:t>(continued)</a:t>
            </a:r>
          </a:p>
        </p:txBody>
      </p:sp>
      <p:sp>
        <p:nvSpPr>
          <p:cNvPr id="9223" name="Rectangle 10">
            <a:extLst>
              <a:ext uri="{FF2B5EF4-FFF2-40B4-BE49-F238E27FC236}">
                <a16:creationId xmlns:a16="http://schemas.microsoft.com/office/drawing/2014/main" id="{E55C88FA-A1BE-B42B-09AB-3F2DA785E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24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BFB39B-C1CC-1FD5-6A20-1E3D61BE3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1101234"/>
            <a:ext cx="9344891" cy="5745444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n-US" sz="6000" dirty="0">
                <a:solidFill>
                  <a:srgbClr val="9723B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for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</a:t>
            </a: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i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, flips </a:t>
            </a:r>
            <a:r>
              <a:rPr lang="en-US" sz="6000" dirty="0">
                <a:solidFill>
                  <a:srgbClr val="0000FF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in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</a:t>
            </a:r>
            <a:r>
              <a:rPr lang="en-US" sz="6000" dirty="0">
                <a:solidFill>
                  <a:srgbClr val="6A5221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enumerate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(</a:t>
            </a: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flips_list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):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 lvl="1">
              <a:buNone/>
            </a:pP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# Possible number of successes (heads)</a:t>
            </a:r>
            <a:endParaRPr lang="en-US" sz="5600" dirty="0">
              <a:latin typeface="Miriam Fixed"/>
              <a:ea typeface="Calibri Light"/>
              <a:cs typeface="Calibri Light"/>
            </a:endParaRPr>
          </a:p>
          <a:p>
            <a:pPr lvl="1">
              <a:buNone/>
            </a:pP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success = </a:t>
            </a:r>
            <a:r>
              <a:rPr lang="en-US" sz="56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np.arange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(</a:t>
            </a:r>
            <a:r>
              <a:rPr lang="en-US" sz="56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0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, flips + </a:t>
            </a:r>
            <a:r>
              <a:rPr lang="en-US" sz="56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1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)</a:t>
            </a:r>
            <a:endParaRPr lang="en-US" sz="5600" dirty="0">
              <a:latin typeface="Miriam Fixed"/>
              <a:ea typeface="Calibri Light"/>
              <a:cs typeface="Calibri Light"/>
            </a:endParaRPr>
          </a:p>
          <a:p>
            <a:pPr lvl="1">
              <a:buNone/>
            </a:pPr>
            <a:br>
              <a:rPr lang="en-US" dirty="0"/>
            </a:br>
            <a:endParaRPr lang="en-US" sz="5600" dirty="0">
              <a:latin typeface="Miriam Fixed"/>
              <a:ea typeface="Calibri Light"/>
              <a:cs typeface="Calibri Light"/>
            </a:endParaRPr>
          </a:p>
          <a:p>
            <a:pPr lvl="1">
              <a:buNone/>
            </a:pP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# Binomial probabilities</a:t>
            </a:r>
            <a:endParaRPr lang="en-US" sz="5600" dirty="0">
              <a:latin typeface="Miriam Fixed"/>
              <a:ea typeface="Calibri Light"/>
              <a:cs typeface="Calibri Light"/>
            </a:endParaRPr>
          </a:p>
          <a:p>
            <a:pPr lvl="1">
              <a:buNone/>
            </a:pP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probs = </a:t>
            </a:r>
            <a:r>
              <a:rPr lang="en-US" sz="56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b.pmf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(success, flips, </a:t>
            </a:r>
            <a:r>
              <a:rPr lang="en-US" sz="5600" dirty="0">
                <a:solidFill>
                  <a:srgbClr val="116644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0.5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)</a:t>
            </a:r>
            <a:endParaRPr lang="en-US" sz="5600" dirty="0">
              <a:latin typeface="Miriam Fixed"/>
              <a:ea typeface="Calibri Light"/>
              <a:cs typeface="Calibri Light"/>
            </a:endParaRPr>
          </a:p>
          <a:p>
            <a:pPr lvl="1">
              <a:buNone/>
            </a:pPr>
            <a:endParaRPr lang="en-US" sz="5600" dirty="0">
              <a:solidFill>
                <a:srgbClr val="000000"/>
              </a:solidFill>
              <a:highlight>
                <a:srgbClr val="FFFFFF"/>
              </a:highlight>
              <a:latin typeface="Miriam Fixed"/>
              <a:ea typeface="+mn-lt"/>
              <a:cs typeface="+mn-lt"/>
            </a:endParaRPr>
          </a:p>
          <a:p>
            <a:pPr lvl="1">
              <a:buNone/>
            </a:pP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# Plot on the </a:t>
            </a:r>
            <a:r>
              <a:rPr lang="en-US" sz="5600" dirty="0" err="1">
                <a:solidFill>
                  <a:srgbClr val="008000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i-th</a:t>
            </a: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subplot</a:t>
            </a:r>
            <a:endParaRPr lang="en-US" sz="5600" dirty="0">
              <a:latin typeface="Miriam Fixed"/>
              <a:ea typeface="Calibri Light"/>
              <a:cs typeface="Calibri Light"/>
            </a:endParaRPr>
          </a:p>
          <a:p>
            <a:pPr lvl="1">
              <a:buNone/>
            </a:pP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axes[</a:t>
            </a:r>
            <a:r>
              <a:rPr lang="en-US" sz="56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i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].bar(success, probs)</a:t>
            </a:r>
            <a:endParaRPr lang="en-US" sz="5600" dirty="0">
              <a:latin typeface="Miriam Fixed"/>
              <a:ea typeface="Calibri Light"/>
              <a:cs typeface="Calibri Light"/>
            </a:endParaRPr>
          </a:p>
          <a:p>
            <a:pPr lvl="1">
              <a:buNone/>
            </a:pP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axes[</a:t>
            </a:r>
            <a:r>
              <a:rPr lang="en-US" sz="56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i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].</a:t>
            </a:r>
            <a:r>
              <a:rPr lang="en-US" sz="56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set_title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(</a:t>
            </a:r>
            <a:r>
              <a:rPr lang="en-US" sz="5600" dirty="0">
                <a:solidFill>
                  <a:srgbClr val="0000FF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f</a:t>
            </a:r>
            <a:r>
              <a:rPr lang="en-US" sz="5600" dirty="0">
                <a:solidFill>
                  <a:srgbClr val="A31515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"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{flips}</a:t>
            </a:r>
            <a:r>
              <a:rPr lang="en-US" sz="5600" dirty="0">
                <a:solidFill>
                  <a:srgbClr val="A31515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 Flips"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)</a:t>
            </a:r>
            <a:endParaRPr lang="en-US" sz="5600" dirty="0">
              <a:latin typeface="Miriam Fixed"/>
              <a:ea typeface="Calibri Light"/>
              <a:cs typeface="Calibri Light"/>
            </a:endParaRPr>
          </a:p>
          <a:p>
            <a:pPr lvl="1">
              <a:buNone/>
            </a:pP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axes[</a:t>
            </a:r>
            <a:r>
              <a:rPr lang="en-US" sz="56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i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].</a:t>
            </a:r>
            <a:r>
              <a:rPr lang="en-US" sz="56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set_xlabel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(</a:t>
            </a:r>
            <a:r>
              <a:rPr lang="en-US" sz="5600" dirty="0">
                <a:solidFill>
                  <a:srgbClr val="A31515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"Number of Heads"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)</a:t>
            </a:r>
            <a:endParaRPr lang="en-US" sz="5600" dirty="0">
              <a:latin typeface="Miriam Fixed"/>
              <a:ea typeface="Calibri Light"/>
              <a:cs typeface="Calibri Light"/>
            </a:endParaRPr>
          </a:p>
          <a:p>
            <a:pPr lvl="1">
              <a:buNone/>
            </a:pP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axes[</a:t>
            </a:r>
            <a:r>
              <a:rPr lang="en-US" sz="56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i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].</a:t>
            </a:r>
            <a:r>
              <a:rPr lang="en-US" sz="56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set_ylabel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(</a:t>
            </a:r>
            <a:r>
              <a:rPr lang="en-US" sz="5600" dirty="0">
                <a:solidFill>
                  <a:srgbClr val="A31515"/>
                </a:solidFill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"Probability"</a:t>
            </a:r>
            <a:r>
              <a:rPr lang="en-US" sz="56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)</a:t>
            </a:r>
            <a:br>
              <a:rPr lang="en-US" dirty="0">
                <a:latin typeface="Miriam Fixed"/>
              </a:rPr>
            </a:br>
            <a:endParaRPr lang="en-US" sz="56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plt.tight_layout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()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>
              <a:buNone/>
            </a:pPr>
            <a:r>
              <a:rPr lang="en-US" sz="6000" dirty="0" err="1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plt.show</a:t>
            </a:r>
            <a:r>
              <a:rPr lang="en-US" sz="6000" dirty="0">
                <a:highlight>
                  <a:srgbClr val="FFFFFF"/>
                </a:highlight>
                <a:latin typeface="Miriam Fixed"/>
                <a:ea typeface="+mn-lt"/>
                <a:cs typeface="+mn-lt"/>
              </a:rPr>
              <a:t>()</a:t>
            </a:r>
            <a:endParaRPr lang="en-US" sz="6000" dirty="0">
              <a:latin typeface="Miriam Fixed"/>
              <a:ea typeface="Calibri Light"/>
              <a:cs typeface="Calibri Light"/>
            </a:endParaRPr>
          </a:p>
          <a:p>
            <a:pPr marL="0" indent="0">
              <a:buNone/>
            </a:pPr>
            <a:endParaRPr lang="en-US" sz="6000" dirty="0">
              <a:latin typeface="Calibri Light"/>
              <a:ea typeface="Calibri Light"/>
              <a:cs typeface="Miriam Fixed" panose="020B0509050101010101" pitchFamily="49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41750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 noChangeArrowheads="1"/>
          </p:cNvSpPr>
          <p:nvPr>
            <p:ph type="title"/>
          </p:nvPr>
        </p:nvSpPr>
        <p:spPr>
          <a:xfrm>
            <a:off x="2252545" y="11322"/>
            <a:ext cx="9939455" cy="1248937"/>
          </a:xfrm>
        </p:spPr>
        <p:txBody>
          <a:bodyPr>
            <a:normAutofit/>
          </a:bodyPr>
          <a:lstStyle/>
          <a:p>
            <a:r>
              <a:rPr lang="en-US" sz="4000" b="1" dirty="0"/>
              <a:t>2.5 Linear Combinations, Weighted Sums, and Dot Products</a:t>
            </a:r>
            <a:endParaRPr lang="en-GB" sz="4000" b="1" dirty="0"/>
          </a:p>
        </p:txBody>
      </p:sp>
      <p:sp>
        <p:nvSpPr>
          <p:cNvPr id="9223" name="Rectangle 10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fld id="{99150666-F597-42D3-84E3-B9A0EADB3BA3}" type="slidenum">
              <a:rPr lang="en-US" sz="1400">
                <a:latin typeface="Times" panose="02020603050405020304" pitchFamily="18" charset="0"/>
              </a:rPr>
              <a:pPr algn="r"/>
              <a:t>25</a:t>
            </a:fld>
            <a:endParaRPr lang="en-US" sz="1400" dirty="0">
              <a:latin typeface="Times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30243" y="1306498"/>
            <a:ext cx="9961758" cy="4928026"/>
          </a:xfrm>
        </p:spPr>
        <p:txBody>
          <a:bodyPr lIns="91440"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 2.5.1 Weighted Average</a:t>
            </a:r>
            <a:endParaRPr lang="en-GB" sz="2600" b="0" i="0" dirty="0">
              <a:effectLst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600" b="0" i="0" dirty="0">
                <a:effectLst/>
              </a:rPr>
              <a:t> 2.5.2 Sums of Squares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600" b="0" i="0" dirty="0">
                <a:effectLst/>
              </a:rPr>
              <a:t> 2.5.3 Sum of Squared Errors</a:t>
            </a:r>
            <a:endParaRPr lang="en-GB" sz="26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2640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9277</TotalTime>
  <Words>1866</Words>
  <Application>Microsoft Macintosh PowerPoint</Application>
  <PresentationFormat>Widescreen</PresentationFormat>
  <Paragraphs>268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Arial,Sans-Serif</vt:lpstr>
      <vt:lpstr>Calibri</vt:lpstr>
      <vt:lpstr>Calibri Light</vt:lpstr>
      <vt:lpstr>Consolas</vt:lpstr>
      <vt:lpstr>Miriam Fixed</vt:lpstr>
      <vt:lpstr>SFMono-Regular</vt:lpstr>
      <vt:lpstr>Times</vt:lpstr>
      <vt:lpstr>Wingdings</vt:lpstr>
      <vt:lpstr>Office Theme</vt:lpstr>
      <vt:lpstr>Need for Mathematical Language</vt:lpstr>
      <vt:lpstr>Some Technical Background</vt:lpstr>
      <vt:lpstr>The Need for Mathematical Language</vt:lpstr>
      <vt:lpstr>Our Software for Tackling Machine Learning</vt:lpstr>
      <vt:lpstr>Our Software for Tackling Machine Learning (continued)</vt:lpstr>
      <vt:lpstr>Our Software for Tackling Machine Learning (continued)</vt:lpstr>
      <vt:lpstr>2.4 Probability</vt:lpstr>
      <vt:lpstr>2.4 Probability (continued)</vt:lpstr>
      <vt:lpstr>2.4 Probability (continued)</vt:lpstr>
      <vt:lpstr>2.4 Probability (continued)</vt:lpstr>
      <vt:lpstr>2.4 Probability (continued)</vt:lpstr>
      <vt:lpstr> 2.4.1 Primitive Events</vt:lpstr>
      <vt:lpstr> 2.4.1 Primitive Events (continued)</vt:lpstr>
      <vt:lpstr> 2.4.2 Independence</vt:lpstr>
      <vt:lpstr> 2.4.3 Conditional Probability</vt:lpstr>
      <vt:lpstr>2.4.4 Distributions</vt:lpstr>
      <vt:lpstr>2.4.4 Distributions</vt:lpstr>
      <vt:lpstr>2.4.4 Distributions</vt:lpstr>
      <vt:lpstr>2.4.4 Distributions</vt:lpstr>
      <vt:lpstr>2.4.4 Distributions (continued)</vt:lpstr>
      <vt:lpstr>2.4.4 Distributions (continued)</vt:lpstr>
      <vt:lpstr>2.4.4 Distributions (continued)</vt:lpstr>
      <vt:lpstr>2.4.4 Distributions (continued)</vt:lpstr>
      <vt:lpstr>2.4.4 Distributions (continued)</vt:lpstr>
      <vt:lpstr>2.5 Linear Combinations, Weighted Sums, and Dot Products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uCertify</dc:creator>
  <cp:lastModifiedBy>Christodoss, Prasanna Ranjith</cp:lastModifiedBy>
  <cp:revision>580</cp:revision>
  <dcterms:created xsi:type="dcterms:W3CDTF">2019-09-02T04:19:33Z</dcterms:created>
  <dcterms:modified xsi:type="dcterms:W3CDTF">2026-01-20T04:20:06Z</dcterms:modified>
</cp:coreProperties>
</file>